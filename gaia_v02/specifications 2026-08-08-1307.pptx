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jbMGQ/w5qIIFNBvzJ8dZcFVN/o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4362CE0-64CA-4DC0-96B7-1EACAC56B7C5}">
  <a:tblStyle styleId="{B4362CE0-64CA-4DC0-96B7-1EACAC56B7C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question behind this hackathon is simple to state: can the motions of nearby stars reveal the gravity of the Milky Way? We used about 9.9 million Gaia stars and searched for two compact equations—one for where the stars are in phase space, and one for the gravitational potential.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C:/Users/akamo/Downloads/report.pdf, Abstract and Sections 1–2</a:t>
            </a:r>
            <a:endParaRPr/>
          </a:p>
          <a:p>
            <a:pPr indent="0" lvl="0" marL="0" rtl="0" algn="l">
              <a:spcBef>
                <a:spcPts val="0"/>
              </a:spcBef>
              <a:spcAft>
                <a:spcPts val="0"/>
              </a:spcAft>
              <a:buNone/>
            </a:pPr>
            <a:r>
              <a:rPr lang="en-US" sz="1200"/>
              <a:t>- https://doi.org/10.5281/zenodo.8088365</a:t>
            </a:r>
            <a:endParaRPr/>
          </a:p>
        </p:txBody>
      </p:sp>
      <p:sp>
        <p:nvSpPr>
          <p:cNvPr id="18" name="Google Shape;18;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g3f695b6666d_0_1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g3f695b6666d_0_1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Gaia gives us a snapshot: positions and velocities for millions of stars. Those stars sample a six-dimensional distribution function, f. What Gaia does not directly give us is the gravitational potential, Φ—the mass map that includes stars, gas, and dark matter. The acceleration of one star is much too small to measure over a human lifetime.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The bridge between the visible motion and the invisible gravity is the collisionless Boltzmann equation. In an equilibrium galaxy, the way the stellar distribution changes across position is balanced by the acceleration acting across velocity. So the hackathon prompt is to search jointly for compact closed forms for f and Φ that make this residual small, while f still describes the stars we were given.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C:/Users/akamo/Downloads/report.pdf, Sections 1–2</a:t>
            </a:r>
            <a:endParaRPr/>
          </a:p>
          <a:p>
            <a:pPr indent="0" lvl="0" marL="0" rtl="0" algn="l">
              <a:spcBef>
                <a:spcPts val="0"/>
              </a:spcBef>
              <a:spcAft>
                <a:spcPts val="0"/>
              </a:spcAft>
              <a:buNone/>
            </a:pPr>
            <a:r>
              <a:rPr lang="en-US" sz="1200"/>
              <a:t>- https://github.com/munozariasjm/sr_hackathon_iaifi2026</a:t>
            </a:r>
            <a:endParaRPr/>
          </a:p>
        </p:txBody>
      </p:sp>
      <p:sp>
        <p:nvSpPr>
          <p:cNvPr id="30" name="Google Shape;30;g3f695b6666d_0_1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Gaia gives us a snapshot: positions and velocities for millions of stars. Those stars sample a six-dimensional distribution function, f. What Gaia does not directly give us is the gravitational potential, Φ—the mass map that includes stars, gas, and dark matter. The acceleration of one star is much too small to measure over a human lifetime.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The bridge between the visible motion and the invisible gravity is the collisionless Boltzmann equation. In an equilibrium galaxy, the way the stellar distribution changes across position is balanced by the acceleration acting across velocity. So the hackathon prompt is to search jointly for compact closed forms for f and Φ that make this residual small, while f still describes the stars we were given.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C:/Users/akamo/Downloads/report.pdf, Sections 1–2</a:t>
            </a:r>
            <a:endParaRPr/>
          </a:p>
          <a:p>
            <a:pPr indent="0" lvl="0" marL="0" rtl="0" algn="l">
              <a:spcBef>
                <a:spcPts val="0"/>
              </a:spcBef>
              <a:spcAft>
                <a:spcPts val="0"/>
              </a:spcAft>
              <a:buNone/>
            </a:pPr>
            <a:r>
              <a:rPr lang="en-US" sz="1200"/>
              <a:t>- https://github.com/munozariasjm/sr_hackathon_iaifi2026</a:t>
            </a:r>
            <a:endParaRPr/>
          </a:p>
        </p:txBody>
      </p:sp>
      <p:sp>
        <p:nvSpPr>
          <p:cNvPr id="44" name="Google Shape;4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695b6666d_3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g3f695b6666d_3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Gaia gives us a snapshot: positions and velocities for millions of stars. Those stars sample a six-dimensional distribution function, f. What Gaia does not directly give us is the gravitational potential, Φ—the mass map that includes stars, gas, and dark matter. The acceleration of one star is much too small to measure over a human lifetime.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The bridge between the visible motion and the invisible gravity is the collisionless Boltzmann equation. In an equilibrium galaxy, the way the stellar distribution changes across position is balanced by the acceleration acting across velocity. So the hackathon prompt is to search jointly for compact closed forms for f and Φ that make this residual small, while f still describes the stars we were given.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C:/Users/akamo/Downloads/report.pdf, Sections 1–2</a:t>
            </a:r>
            <a:endParaRPr/>
          </a:p>
          <a:p>
            <a:pPr indent="0" lvl="0" marL="0" rtl="0" algn="l">
              <a:spcBef>
                <a:spcPts val="0"/>
              </a:spcBef>
              <a:spcAft>
                <a:spcPts val="0"/>
              </a:spcAft>
              <a:buNone/>
            </a:pPr>
            <a:r>
              <a:rPr lang="en-US" sz="1200"/>
              <a:t>- https://github.com/munozariasjm/sr_hackathon_iaifi2026</a:t>
            </a:r>
            <a:endParaRPr/>
          </a:p>
        </p:txBody>
      </p:sp>
      <p:sp>
        <p:nvSpPr>
          <p:cNvPr id="59" name="Google Shape;59;g3f695b6666d_3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695b6666d_3_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g3f695b6666d_3_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Gaia gives us a snapshot: positions and velocities for millions of stars. Those stars sample a six-dimensional distribution function, f. What Gaia does not directly give us is the gravitational potential, Φ—the mass map that includes stars, gas, and dark matter. The acceleration of one star is much too small to measure over a human lifetime.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The bridge between the visible motion and the invisible gravity is the collisionless Boltzmann equation. In an equilibrium galaxy, the way the stellar distribution changes across position is balanced by the acceleration acting across velocity. So the hackathon prompt is to search jointly for compact closed forms for f and Φ that make this residual small, while f still describes the stars we were given.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C:/Users/akamo/Downloads/report.pdf, Sections 1–2</a:t>
            </a:r>
            <a:endParaRPr/>
          </a:p>
          <a:p>
            <a:pPr indent="0" lvl="0" marL="0" rtl="0" algn="l">
              <a:spcBef>
                <a:spcPts val="0"/>
              </a:spcBef>
              <a:spcAft>
                <a:spcPts val="0"/>
              </a:spcAft>
              <a:buNone/>
            </a:pPr>
            <a:r>
              <a:rPr lang="en-US" sz="1200"/>
              <a:t>- https://github.com/munozariasjm/sr_hackathon_iaifi2026</a:t>
            </a:r>
            <a:endParaRPr/>
          </a:p>
        </p:txBody>
      </p:sp>
      <p:sp>
        <p:nvSpPr>
          <p:cNvPr id="72" name="Google Shape;72;g3f695b6666d_3_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first thing we found was a trap in that objective. Every term contains a derivative of log f. If f is constant, every derivative is zero, so the residual is exactly zero for any potential. A model with no vertical structure can also score perfectly, even though it describes no Galactic disc. And if f is written only as a function of exact integrals of motion, the cancellation happens algebraically before a single star is evaluated.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We stress-tested this with a deliberately absurd potential: R cubed minus seven z to the fourth plus R z. The relative residual was five times ten to the minus eleven, while the individual terms were around one hundred thousand. Nothing physical was small; the terms were simply cancelling. That changed our motivation: the goal is not the smallest possible residual. It is the smallest residual among models that actually describe the stars.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C:/Users/akamo/Downloads/report.pdf, Sections 3.1–3.3</a:t>
            </a:r>
            <a:endParaRPr/>
          </a:p>
        </p:txBody>
      </p:sp>
      <p:sp>
        <p:nvSpPr>
          <p:cNvPr id="85" name="Google Shape;8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data give us a clean physical check. In any distribution of the form f of energy and angular momentum, radial and vertical velocity enter the energy in the same way. That symmetry forces the radial and vertical dispersions to be equal, whatever potential we fit.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But the Gaia stars are not equal in those directions. Near the midplane, the measured ratio is about 1.93. So the easiest exact solution is ruled out by the data. This is why we report the dispersion ratio next to the residual. A candidate near one has collapsed onto the degenerate two-integral family, however impressive its residual looks. In this problem, a small nonzero residual can be more physical than a perfect zero.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C:/Users/akamo/Downloads/report.pdf, Sections 3.4–3.5</a:t>
            </a:r>
            <a:endParaRPr/>
          </a:p>
        </p:txBody>
      </p:sp>
      <p:sp>
        <p:nvSpPr>
          <p:cNvPr id="111" name="Google Shape;11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Our response was to separate measurement from symbolic search. First, we model the survey selection, because Gaia does not observe every location equally. Second, we fit the velocity distribution conditional on position. If selection depends only on position, it cancels from that conditional distribution.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Third, inside many small spatial cells, the Boltzmann equation is linear in the acceleration. Thousands of stars then give an overdetermined least-squares estimate of the local force, without choosing a potential formula. Finally, we use symbolic regression to distill that measured field into a compact potential and to fit a compact log distribution. Positivity of f and curl-freeness of the force are built into the representation. Only after training do we compute the CBE residual as a diagnostic.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C:/Users/akamo/Downloads/report.pdf, Sections 4–6</a:t>
            </a:r>
            <a:endParaRPr/>
          </a:p>
        </p:txBody>
      </p:sp>
      <p:sp>
        <p:nvSpPr>
          <p:cNvPr id="128" name="Google Shape;12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695b6666d_3_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f695b6666d_3_4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g3f695b6666d_3_45: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These are the resulting closed forms. The potential is five point three six times the natural logarithm of R plus zero point three nine times log-cosh z. The parentheses matter: R is inside the logarithm, so this is not a separable radial-plus-vertical potential.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The distribution is more complicated, but still only forty-four nodes and five fitted constants; its velocities are numerical values in units of one hundred kilometres per second. Its first term gives a vertical velocity dispersion of 18.4 kilometres per second, compared with 18.2 in the data. Another term lets rotation control vertical thickness, which is the expected trend. We interpret both expressions locally. Positivity and a nonnegative Poisson density were checked in the fitted box, but global normalizability and the asymmetry of Galactic rotation still require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C:/Users/akamo/Downloads/report.pdf, Sections 7–8 and displayed final equations</a:t>
            </a:r>
            <a:endParaRPr/>
          </a:p>
        </p:txBody>
      </p:sp>
      <p:sp>
        <p:nvSpPr>
          <p:cNvPr id="166" name="Google Shape;16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695b6666d_4_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g3f695b6666d_4_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These are the resulting closed forms. The potential is five point three six times the natural logarithm of R plus zero point three nine times log-cosh z. The parentheses matter: R is inside the logarithm, so this is not a separable radial-plus-vertical potential.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The distribution is more complicated, but still only forty-four nodes and five fitted constants; its velocities are numerical values in units of one hundred kilometres per second. Its first term gives a vertical velocity dispersion of 18.4 kilometres per second, compared with 18.2 in the data. Another term lets rotation control vertical thickness, which is the expected trend. We interpret both expressions locally. Positivity and a nonnegative Poisson density were checked in the fitted box, but global normalizability and the asymmetry of Galactic rotation still require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C:/Users/akamo/Downloads/report.pdf, Sections 7–8 and displayed final equations</a:t>
            </a:r>
            <a:endParaRPr/>
          </a:p>
        </p:txBody>
      </p:sp>
      <p:sp>
        <p:nvSpPr>
          <p:cNvPr id="180" name="Google Shape;180;g3f695b6666d_4_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On held-out stars, the selected model has a relative CBE residual of 0.204, explains about 92 percent of the empirical log density, and recovers a radial-to-vertical dispersion ratio of 1.883, close to the measured 1.893.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The comparison on the right is the key result. The constant model has exactly zero residual, but essentially zero density accuracy and a dispersion ratio of 0.91. Our selected expression deliberately accepts a nonzero residual to recover the observed structure. Train, validation, and test residuals differ by only about half a percent. The important caveat is that this is not a complete Galactic model: the inferred midplane density is low, and the equation still misses some measured force-gradient structure.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C:/Users/akamo/Downloads/report.pdf, Sections 8–9 and held-out evaluation tables</a:t>
            </a:r>
            <a:endParaRPr/>
          </a:p>
        </p:txBody>
      </p:sp>
      <p:sp>
        <p:nvSpPr>
          <p:cNvPr id="193" name="Google Shape;19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Our main reflection is about objective design. First, always score the empty solution before launching a large search. If nothing scores perfectly, the loss is not enough. Second, physical structure is more reliable than penalties: searching log f guarantees positivity, and fitting one shared potential guarantees a curl-free force.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Third, this should be presented as a compact local model, not the final equation of the Milky Way. The midplane density is low, measured gradients are only partly recovered, and global distribution-function checks remain. Our next experiment is a matched benchmark against the other hackathon pipelines, followed by a richer but still interpretable vertical scaling. The useful outcome is not a claim of having solved the Galaxy; it is a pair of testable equations and a clearer standard for what a physically meaningful symbolic solution must pass.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C:/Users/akamo/Downloads/report.pdf, Sections 9–10</a:t>
            </a:r>
            <a:endParaRPr/>
          </a:p>
        </p:txBody>
      </p:sp>
      <p:sp>
        <p:nvSpPr>
          <p:cNvPr id="214" name="Google Shape;21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 name="Shape 13"/>
        <p:cNvGrpSpPr/>
        <p:nvPr/>
      </p:nvGrpSpPr>
      <p:grpSpPr>
        <a:xfrm>
          <a:off x="0" y="0"/>
          <a:ext cx="0" cy="0"/>
          <a:chOff x="0" y="0"/>
          <a:chExt cx="0" cy="0"/>
        </a:xfrm>
      </p:grpSpPr>
      <p:sp>
        <p:nvSpPr>
          <p:cNvPr id="14" name="Google Shape;14;p1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9"/>
          <p:cNvSpPr/>
          <p:nvPr/>
        </p:nvSpPr>
        <p:spPr>
          <a:xfrm>
            <a:off x="0" y="6332900"/>
            <a:ext cx="12192000" cy="52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400"/>
              <a:buFont typeface="Calibri"/>
              <a:buNone/>
            </a:pPr>
            <a:r>
              <a:rPr lang="en-US">
                <a:solidFill>
                  <a:srgbClr val="B7B7B7"/>
                </a:solidFill>
                <a:latin typeface="Calibri"/>
                <a:ea typeface="Calibri"/>
                <a:cs typeface="Calibri"/>
                <a:sym typeface="Calibri"/>
              </a:rPr>
              <a:t>IAIFI 2026 Summer School Hackathon </a:t>
            </a:r>
            <a:endParaRPr sz="1400">
              <a:solidFill>
                <a:srgbClr val="B7B7B7"/>
              </a:solidFill>
              <a:latin typeface="Calibri"/>
              <a:ea typeface="Calibri"/>
              <a:cs typeface="Calibri"/>
              <a:sym typeface="Calibri"/>
            </a:endParaRPr>
          </a:p>
        </p:txBody>
      </p:sp>
      <p:pic>
        <p:nvPicPr>
          <p:cNvPr id="12" name="Google Shape;12;p9"/>
          <p:cNvPicPr preferRelativeResize="0"/>
          <p:nvPr/>
        </p:nvPicPr>
        <p:blipFill rotWithShape="1">
          <a:blip r:embed="rId1">
            <a:alphaModFix amt="35000"/>
          </a:blip>
          <a:srcRect b="0" l="0" r="0" t="0"/>
          <a:stretch/>
        </p:blipFill>
        <p:spPr>
          <a:xfrm>
            <a:off x="102780" y="6176518"/>
            <a:ext cx="1074600" cy="594868"/>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9" name="Shape 19"/>
        <p:cNvGrpSpPr/>
        <p:nvPr/>
      </p:nvGrpSpPr>
      <p:grpSpPr>
        <a:xfrm>
          <a:off x="0" y="0"/>
          <a:ext cx="0" cy="0"/>
          <a:chOff x="0" y="0"/>
          <a:chExt cx="0" cy="0"/>
        </a:xfrm>
      </p:grpSpPr>
      <p:sp>
        <p:nvSpPr>
          <p:cNvPr id="20" name="Google Shape;20;p1"/>
          <p:cNvSpPr/>
          <p:nvPr/>
        </p:nvSpPr>
        <p:spPr>
          <a:xfrm>
            <a:off x="838200" y="3345581"/>
            <a:ext cx="105156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200"/>
              <a:buFont typeface="Cambria"/>
              <a:buNone/>
            </a:pPr>
            <a:r>
              <a:rPr b="1" lang="en-US" sz="4200">
                <a:solidFill>
                  <a:srgbClr val="FFFFFF"/>
                </a:solidFill>
                <a:latin typeface="Cambria"/>
                <a:ea typeface="Cambria"/>
                <a:cs typeface="Cambria"/>
                <a:sym typeface="Cambria"/>
              </a:rPr>
              <a:t>GaiaSR: Equation Hunting in Gaia</a:t>
            </a:r>
            <a:endParaRPr sz="4200">
              <a:solidFill>
                <a:schemeClr val="dk1"/>
              </a:solidFill>
              <a:latin typeface="Calibri"/>
              <a:ea typeface="Calibri"/>
              <a:cs typeface="Calibri"/>
              <a:sym typeface="Calibri"/>
            </a:endParaRPr>
          </a:p>
        </p:txBody>
      </p:sp>
      <p:sp>
        <p:nvSpPr>
          <p:cNvPr id="21" name="Google Shape;21;p1"/>
          <p:cNvSpPr/>
          <p:nvPr/>
        </p:nvSpPr>
        <p:spPr>
          <a:xfrm>
            <a:off x="838200" y="3849772"/>
            <a:ext cx="105156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4200"/>
              <a:buFont typeface="Cambria"/>
              <a:buNone/>
            </a:pPr>
            <a:r>
              <a:rPr i="1" lang="en-US" sz="4100">
                <a:solidFill>
                  <a:srgbClr val="CADCFC"/>
                </a:solidFill>
                <a:latin typeface="Cambria"/>
                <a:ea typeface="Cambria"/>
                <a:cs typeface="Cambria"/>
                <a:sym typeface="Cambria"/>
              </a:rPr>
              <a:t>Can stars reveal the Milky Way’s gravity?</a:t>
            </a:r>
            <a:endParaRPr i="1" sz="4100">
              <a:solidFill>
                <a:schemeClr val="dk1"/>
              </a:solidFill>
              <a:latin typeface="Calibri"/>
              <a:ea typeface="Calibri"/>
              <a:cs typeface="Calibri"/>
              <a:sym typeface="Calibri"/>
            </a:endParaRPr>
          </a:p>
        </p:txBody>
      </p:sp>
      <p:sp>
        <p:nvSpPr>
          <p:cNvPr id="22" name="Google Shape;22;p1"/>
          <p:cNvSpPr/>
          <p:nvPr/>
        </p:nvSpPr>
        <p:spPr>
          <a:xfrm>
            <a:off x="973328" y="4548909"/>
            <a:ext cx="10515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700"/>
              <a:buFont typeface="Calibri"/>
              <a:buNone/>
            </a:pPr>
            <a:r>
              <a:rPr lang="en-US" sz="1700">
                <a:solidFill>
                  <a:srgbClr val="A4C2F4"/>
                </a:solidFill>
                <a:latin typeface="Calibri"/>
                <a:ea typeface="Calibri"/>
                <a:cs typeface="Calibri"/>
                <a:sym typeface="Calibri"/>
              </a:rPr>
              <a:t>Gaia DR3  ·  9.9 million nearby stars  ·  two unknown functions</a:t>
            </a:r>
            <a:endParaRPr sz="1700">
              <a:solidFill>
                <a:srgbClr val="A4C2F4"/>
              </a:solidFill>
              <a:latin typeface="Calibri"/>
              <a:ea typeface="Calibri"/>
              <a:cs typeface="Calibri"/>
              <a:sym typeface="Calibri"/>
            </a:endParaRPr>
          </a:p>
        </p:txBody>
      </p:sp>
      <p:sp>
        <p:nvSpPr>
          <p:cNvPr id="23" name="Google Shape;23;p1"/>
          <p:cNvSpPr/>
          <p:nvPr/>
        </p:nvSpPr>
        <p:spPr>
          <a:xfrm>
            <a:off x="973323" y="5219795"/>
            <a:ext cx="10515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700"/>
              <a:buFont typeface="Calibri"/>
              <a:buNone/>
            </a:pPr>
            <a:r>
              <a:rPr b="1" lang="en-US" sz="1900">
                <a:solidFill>
                  <a:srgbClr val="CADCFC"/>
                </a:solidFill>
                <a:latin typeface="Calibri"/>
                <a:ea typeface="Calibri"/>
                <a:cs typeface="Calibri"/>
                <a:sym typeface="Calibri"/>
              </a:rPr>
              <a:t>Team</a:t>
            </a:r>
            <a:r>
              <a:rPr lang="en-US" sz="1900">
                <a:solidFill>
                  <a:srgbClr val="CADCFC"/>
                </a:solidFill>
                <a:latin typeface="Calibri"/>
                <a:ea typeface="Calibri"/>
                <a:cs typeface="Calibri"/>
                <a:sym typeface="Calibri"/>
              </a:rPr>
              <a:t>: Indranil, Akshay Ghalsasi, Adam Kamoski, Dora Demiri, Hanieh Karimi, Brianna Isola, Lucas</a:t>
            </a:r>
            <a:r>
              <a:rPr lang="en-US" sz="1700">
                <a:solidFill>
                  <a:srgbClr val="CADCFC"/>
                </a:solidFill>
                <a:latin typeface="Calibri"/>
                <a:ea typeface="Calibri"/>
                <a:cs typeface="Calibri"/>
                <a:sym typeface="Calibri"/>
              </a:rPr>
              <a:t> </a:t>
            </a:r>
            <a:endParaRPr sz="1700">
              <a:solidFill>
                <a:schemeClr val="dk1"/>
              </a:solidFill>
              <a:latin typeface="Calibri"/>
              <a:ea typeface="Calibri"/>
              <a:cs typeface="Calibri"/>
              <a:sym typeface="Calibri"/>
            </a:endParaRPr>
          </a:p>
        </p:txBody>
      </p:sp>
      <p:pic>
        <p:nvPicPr>
          <p:cNvPr id="24" name="Google Shape;24;p1"/>
          <p:cNvPicPr preferRelativeResize="0"/>
          <p:nvPr/>
        </p:nvPicPr>
        <p:blipFill rotWithShape="1">
          <a:blip r:embed="rId3">
            <a:alphaModFix/>
          </a:blip>
          <a:srcRect b="0" l="0" r="0" t="0"/>
          <a:stretch/>
        </p:blipFill>
        <p:spPr>
          <a:xfrm>
            <a:off x="841250" y="481388"/>
            <a:ext cx="4978399" cy="2755899"/>
          </a:xfrm>
          <a:prstGeom prst="rect">
            <a:avLst/>
          </a:prstGeom>
          <a:noFill/>
          <a:ln>
            <a:noFill/>
          </a:ln>
        </p:spPr>
      </p:pic>
      <p:sp>
        <p:nvSpPr>
          <p:cNvPr id="25" name="Google Shape;25;p1"/>
          <p:cNvSpPr/>
          <p:nvPr/>
        </p:nvSpPr>
        <p:spPr>
          <a:xfrm>
            <a:off x="60150" y="5806400"/>
            <a:ext cx="1624200" cy="1003500"/>
          </a:xfrm>
          <a:prstGeom prst="rect">
            <a:avLst/>
          </a:prstGeom>
          <a:solidFill>
            <a:srgbClr val="1E27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 name="Google Shape;26;p1" title="The_colour_of_the_sky_from_Gaia_s_Early_Data_Release_3.png"/>
          <p:cNvPicPr preferRelativeResize="0"/>
          <p:nvPr/>
        </p:nvPicPr>
        <p:blipFill>
          <a:blip r:embed="rId4">
            <a:alphaModFix/>
          </a:blip>
          <a:stretch>
            <a:fillRect/>
          </a:stretch>
        </p:blipFill>
        <p:spPr>
          <a:xfrm>
            <a:off x="6101423" y="869580"/>
            <a:ext cx="4663500" cy="2331600"/>
          </a:xfrm>
          <a:prstGeom prst="ellipse">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g3f695b6666d_0_135"/>
          <p:cNvSpPr/>
          <p:nvPr/>
        </p:nvSpPr>
        <p:spPr>
          <a:xfrm>
            <a:off x="640080" y="384048"/>
            <a:ext cx="108813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192E"/>
              </a:buClr>
              <a:buSzPts val="3800"/>
              <a:buFont typeface="Cambria"/>
              <a:buNone/>
            </a:pPr>
            <a:r>
              <a:rPr b="1" lang="en-US" sz="3800">
                <a:solidFill>
                  <a:srgbClr val="16192E"/>
                </a:solidFill>
                <a:latin typeface="Cambria"/>
                <a:ea typeface="Cambria"/>
                <a:cs typeface="Cambria"/>
                <a:sym typeface="Cambria"/>
              </a:rPr>
              <a:t>Stars carry a hidden map of gravity</a:t>
            </a:r>
            <a:endParaRPr sz="3800">
              <a:solidFill>
                <a:schemeClr val="dk1"/>
              </a:solidFill>
              <a:latin typeface="Calibri"/>
              <a:ea typeface="Calibri"/>
              <a:cs typeface="Calibri"/>
              <a:sym typeface="Calibri"/>
            </a:endParaRPr>
          </a:p>
        </p:txBody>
      </p:sp>
      <p:pic>
        <p:nvPicPr>
          <p:cNvPr id="33" name="Google Shape;33;g3f695b6666d_0_135"/>
          <p:cNvPicPr preferRelativeResize="0"/>
          <p:nvPr/>
        </p:nvPicPr>
        <p:blipFill rotWithShape="1">
          <a:blip r:embed="rId3">
            <a:alphaModFix amt="35000"/>
          </a:blip>
          <a:srcRect b="0" l="0" r="0" t="0"/>
          <a:stretch/>
        </p:blipFill>
        <p:spPr>
          <a:xfrm>
            <a:off x="102780" y="6176518"/>
            <a:ext cx="1074600" cy="594868"/>
          </a:xfrm>
          <a:prstGeom prst="rect">
            <a:avLst/>
          </a:prstGeom>
          <a:noFill/>
          <a:ln>
            <a:noFill/>
          </a:ln>
        </p:spPr>
      </p:pic>
      <p:sp>
        <p:nvSpPr>
          <p:cNvPr id="34" name="Google Shape;34;g3f695b6666d_0_13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35" name="Google Shape;35;g3f695b6666d_0_135"/>
          <p:cNvSpPr txBox="1"/>
          <p:nvPr/>
        </p:nvSpPr>
        <p:spPr>
          <a:xfrm>
            <a:off x="3549325" y="6605325"/>
            <a:ext cx="693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36" name="Google Shape;36;g3f695b6666d_0_135" title="Untitled-1.png"/>
          <p:cNvPicPr preferRelativeResize="0"/>
          <p:nvPr/>
        </p:nvPicPr>
        <p:blipFill>
          <a:blip r:embed="rId4">
            <a:alphaModFix/>
          </a:blip>
          <a:stretch>
            <a:fillRect/>
          </a:stretch>
        </p:blipFill>
        <p:spPr>
          <a:xfrm>
            <a:off x="2150441" y="3928741"/>
            <a:ext cx="8270131" cy="1280100"/>
          </a:xfrm>
          <a:prstGeom prst="rect">
            <a:avLst/>
          </a:prstGeom>
          <a:noFill/>
          <a:ln>
            <a:noFill/>
          </a:ln>
        </p:spPr>
      </p:pic>
      <p:pic>
        <p:nvPicPr>
          <p:cNvPr id="37" name="Google Shape;37;g3f695b6666d_0_135" title="The_colour_of_the_sky_from_Gaia_s_Early_Data_Release_3.png"/>
          <p:cNvPicPr preferRelativeResize="0"/>
          <p:nvPr/>
        </p:nvPicPr>
        <p:blipFill rotWithShape="1">
          <a:blip r:embed="rId5">
            <a:alphaModFix/>
          </a:blip>
          <a:srcRect b="36120" l="5952" r="6390" t="25601"/>
          <a:stretch/>
        </p:blipFill>
        <p:spPr>
          <a:xfrm>
            <a:off x="3025" y="1072112"/>
            <a:ext cx="12192000" cy="2661988"/>
          </a:xfrm>
          <a:prstGeom prst="rect">
            <a:avLst/>
          </a:prstGeom>
          <a:noFill/>
          <a:ln>
            <a:noFill/>
          </a:ln>
        </p:spPr>
      </p:pic>
      <p:pic>
        <p:nvPicPr>
          <p:cNvPr id="38" name="Google Shape;38;g3f695b6666d_0_135"/>
          <p:cNvPicPr preferRelativeResize="0"/>
          <p:nvPr/>
        </p:nvPicPr>
        <p:blipFill>
          <a:blip r:embed="rId6">
            <a:alphaModFix/>
          </a:blip>
          <a:stretch>
            <a:fillRect/>
          </a:stretch>
        </p:blipFill>
        <p:spPr>
          <a:xfrm>
            <a:off x="8834099" y="146300"/>
            <a:ext cx="2956558" cy="2956558"/>
          </a:xfrm>
          <a:prstGeom prst="rect">
            <a:avLst/>
          </a:prstGeom>
          <a:noFill/>
          <a:ln>
            <a:noFill/>
          </a:ln>
        </p:spPr>
      </p:pic>
      <p:sp>
        <p:nvSpPr>
          <p:cNvPr id="39" name="Google Shape;39;g3f695b6666d_0_135"/>
          <p:cNvSpPr txBox="1"/>
          <p:nvPr/>
        </p:nvSpPr>
        <p:spPr>
          <a:xfrm>
            <a:off x="1431763" y="5272038"/>
            <a:ext cx="30000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200">
                <a:solidFill>
                  <a:srgbClr val="FF0000"/>
                </a:solidFill>
                <a:latin typeface="Calibri"/>
                <a:ea typeface="Calibri"/>
                <a:cs typeface="Calibri"/>
                <a:sym typeface="Calibri"/>
              </a:rPr>
              <a:t>Phase Space Density</a:t>
            </a:r>
            <a:endParaRPr sz="2200">
              <a:solidFill>
                <a:srgbClr val="FF0000"/>
              </a:solidFill>
            </a:endParaRPr>
          </a:p>
        </p:txBody>
      </p:sp>
      <p:sp>
        <p:nvSpPr>
          <p:cNvPr id="40" name="Google Shape;40;g3f695b6666d_0_135"/>
          <p:cNvSpPr txBox="1"/>
          <p:nvPr/>
        </p:nvSpPr>
        <p:spPr>
          <a:xfrm>
            <a:off x="5738066" y="5293200"/>
            <a:ext cx="30000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200">
                <a:solidFill>
                  <a:srgbClr val="0000FF"/>
                </a:solidFill>
                <a:latin typeface="Calibri"/>
                <a:ea typeface="Calibri"/>
                <a:cs typeface="Calibri"/>
                <a:sym typeface="Calibri"/>
              </a:rPr>
              <a:t>Gravitational Potential </a:t>
            </a:r>
            <a:endParaRPr sz="2200">
              <a:solidFill>
                <a:srgbClr val="0000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2"/>
          <p:cNvSpPr/>
          <p:nvPr/>
        </p:nvSpPr>
        <p:spPr>
          <a:xfrm>
            <a:off x="640080" y="384048"/>
            <a:ext cx="1088136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192E"/>
              </a:buClr>
              <a:buSzPts val="3800"/>
              <a:buFont typeface="Cambria"/>
              <a:buNone/>
            </a:pPr>
            <a:r>
              <a:rPr b="1" lang="en-US" sz="3800">
                <a:solidFill>
                  <a:srgbClr val="16192E"/>
                </a:solidFill>
                <a:latin typeface="Cambria"/>
                <a:ea typeface="Cambria"/>
                <a:cs typeface="Cambria"/>
                <a:sym typeface="Cambria"/>
              </a:rPr>
              <a:t>Stars carry a hidden map of gravity</a:t>
            </a:r>
            <a:endParaRPr sz="3800">
              <a:solidFill>
                <a:schemeClr val="dk1"/>
              </a:solidFill>
              <a:latin typeface="Calibri"/>
              <a:ea typeface="Calibri"/>
              <a:cs typeface="Calibri"/>
              <a:sym typeface="Calibri"/>
            </a:endParaRPr>
          </a:p>
        </p:txBody>
      </p:sp>
      <p:sp>
        <p:nvSpPr>
          <p:cNvPr id="47" name="Google Shape;47;p2"/>
          <p:cNvSpPr/>
          <p:nvPr/>
        </p:nvSpPr>
        <p:spPr>
          <a:xfrm>
            <a:off x="640080" y="2825015"/>
            <a:ext cx="5257800" cy="1600200"/>
          </a:xfrm>
          <a:prstGeom prst="roundRect">
            <a:avLst>
              <a:gd fmla="val 3429" name="adj"/>
            </a:avLst>
          </a:prstGeom>
          <a:solidFill>
            <a:srgbClr val="F4F6FB"/>
          </a:solidFill>
          <a:ln cap="flat" cmpd="sng" w="12700">
            <a:solidFill>
              <a:srgbClr val="E3E8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 name="Google Shape;48;p2"/>
          <p:cNvSpPr/>
          <p:nvPr/>
        </p:nvSpPr>
        <p:spPr>
          <a:xfrm>
            <a:off x="914400" y="3053615"/>
            <a:ext cx="4709100" cy="118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700"/>
              <a:buFont typeface="Calibri"/>
              <a:buNone/>
            </a:pPr>
            <a:r>
              <a:rPr b="1" lang="en-US" sz="2200">
                <a:solidFill>
                  <a:srgbClr val="1E2761"/>
                </a:solidFill>
                <a:latin typeface="Calibri"/>
                <a:ea typeface="Calibri"/>
                <a:cs typeface="Calibri"/>
                <a:sym typeface="Calibri"/>
              </a:rPr>
              <a:t>What Gaia gives us</a:t>
            </a:r>
            <a:endParaRPr b="1" sz="2200">
              <a:solidFill>
                <a:srgbClr val="1E2761"/>
              </a:solidFill>
              <a:latin typeface="Calibri"/>
              <a:ea typeface="Calibri"/>
              <a:cs typeface="Calibri"/>
              <a:sym typeface="Calibri"/>
            </a:endParaRPr>
          </a:p>
          <a:p>
            <a:pPr indent="0" lvl="0" marL="0" marR="0" rtl="0" algn="l">
              <a:spcBef>
                <a:spcPts val="0"/>
              </a:spcBef>
              <a:spcAft>
                <a:spcPts val="0"/>
              </a:spcAft>
              <a:buClr>
                <a:srgbClr val="1E2761"/>
              </a:buClr>
              <a:buSzPts val="1700"/>
              <a:buFont typeface="Calibri"/>
              <a:buNone/>
            </a:pPr>
            <a:r>
              <a:t/>
            </a:r>
            <a:endParaRPr b="1" sz="900">
              <a:solidFill>
                <a:srgbClr val="1E2761"/>
              </a:solidFill>
              <a:latin typeface="Calibri"/>
              <a:ea typeface="Calibri"/>
              <a:cs typeface="Calibri"/>
              <a:sym typeface="Calibri"/>
            </a:endParaRPr>
          </a:p>
          <a:p>
            <a:pPr indent="0" lvl="0" marL="0" marR="0" rtl="0" algn="l">
              <a:spcBef>
                <a:spcPts val="0"/>
              </a:spcBef>
              <a:spcAft>
                <a:spcPts val="0"/>
              </a:spcAft>
              <a:buClr>
                <a:srgbClr val="16192E"/>
              </a:buClr>
              <a:buSzPts val="1400"/>
              <a:buFont typeface="Calibri"/>
              <a:buNone/>
            </a:pPr>
            <a:r>
              <a:rPr b="1" lang="en-US" sz="1400">
                <a:solidFill>
                  <a:srgbClr val="16192E"/>
                </a:solidFill>
                <a:latin typeface="Calibri"/>
                <a:ea typeface="Calibri"/>
                <a:cs typeface="Calibri"/>
                <a:sym typeface="Calibri"/>
              </a:rPr>
              <a:t>P</a:t>
            </a:r>
            <a:r>
              <a:rPr b="1" lang="en-US" sz="1500">
                <a:solidFill>
                  <a:srgbClr val="16192E"/>
                </a:solidFill>
                <a:latin typeface="Calibri"/>
                <a:ea typeface="Calibri"/>
                <a:cs typeface="Calibri"/>
                <a:sym typeface="Calibri"/>
              </a:rPr>
              <a:t>ositions and velocities </a:t>
            </a:r>
            <a:r>
              <a:rPr lang="en-US" sz="1500">
                <a:solidFill>
                  <a:srgbClr val="16192E"/>
                </a:solidFill>
                <a:latin typeface="Calibri"/>
                <a:ea typeface="Calibri"/>
                <a:cs typeface="Calibri"/>
                <a:sym typeface="Calibri"/>
              </a:rPr>
              <a:t>for 9.9 million nearby stars—a snapshot of how the Galaxy is moving.</a:t>
            </a:r>
            <a:endParaRPr sz="1800">
              <a:solidFill>
                <a:schemeClr val="dk1"/>
              </a:solidFill>
              <a:latin typeface="Calibri"/>
              <a:ea typeface="Calibri"/>
              <a:cs typeface="Calibri"/>
              <a:sym typeface="Calibri"/>
            </a:endParaRPr>
          </a:p>
        </p:txBody>
      </p:sp>
      <p:sp>
        <p:nvSpPr>
          <p:cNvPr id="49" name="Google Shape;49;p2"/>
          <p:cNvSpPr/>
          <p:nvPr/>
        </p:nvSpPr>
        <p:spPr>
          <a:xfrm>
            <a:off x="6263640" y="2825015"/>
            <a:ext cx="5257800" cy="1600200"/>
          </a:xfrm>
          <a:prstGeom prst="roundRect">
            <a:avLst>
              <a:gd fmla="val 3429" name="adj"/>
            </a:avLst>
          </a:prstGeom>
          <a:solidFill>
            <a:srgbClr val="F4F6FB"/>
          </a:solidFill>
          <a:ln cap="flat" cmpd="sng" w="12700">
            <a:solidFill>
              <a:srgbClr val="E3E8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2"/>
          <p:cNvSpPr/>
          <p:nvPr/>
        </p:nvSpPr>
        <p:spPr>
          <a:xfrm>
            <a:off x="6537960" y="3053615"/>
            <a:ext cx="47091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3B3B"/>
              </a:buClr>
              <a:buSzPts val="1700"/>
              <a:buFont typeface="Calibri"/>
              <a:buNone/>
            </a:pPr>
            <a:r>
              <a:rPr b="1" lang="en-US" sz="2200">
                <a:solidFill>
                  <a:srgbClr val="C43B3B"/>
                </a:solidFill>
                <a:latin typeface="Calibri"/>
                <a:ea typeface="Calibri"/>
                <a:cs typeface="Calibri"/>
                <a:sym typeface="Calibri"/>
              </a:rPr>
              <a:t>What remains hidden</a:t>
            </a:r>
            <a:endParaRPr b="1" sz="2200">
              <a:solidFill>
                <a:srgbClr val="C43B3B"/>
              </a:solidFill>
              <a:latin typeface="Calibri"/>
              <a:ea typeface="Calibri"/>
              <a:cs typeface="Calibri"/>
              <a:sym typeface="Calibri"/>
            </a:endParaRPr>
          </a:p>
          <a:p>
            <a:pPr indent="0" lvl="0" marL="0" marR="0" rtl="0" algn="l">
              <a:spcBef>
                <a:spcPts val="0"/>
              </a:spcBef>
              <a:spcAft>
                <a:spcPts val="0"/>
              </a:spcAft>
              <a:buClr>
                <a:srgbClr val="C43B3B"/>
              </a:buClr>
              <a:buSzPts val="1700"/>
              <a:buFont typeface="Calibri"/>
              <a:buNone/>
            </a:pPr>
            <a:br>
              <a:rPr b="1" lang="en-US" sz="900">
                <a:solidFill>
                  <a:srgbClr val="C43B3B"/>
                </a:solidFill>
                <a:latin typeface="Calibri"/>
                <a:ea typeface="Calibri"/>
                <a:cs typeface="Calibri"/>
                <a:sym typeface="Calibri"/>
              </a:rPr>
            </a:br>
            <a:r>
              <a:rPr lang="en-US" sz="1500">
                <a:solidFill>
                  <a:srgbClr val="16192E"/>
                </a:solidFill>
                <a:latin typeface="Calibri"/>
                <a:ea typeface="Calibri"/>
                <a:cs typeface="Calibri"/>
                <a:sym typeface="Calibri"/>
              </a:rPr>
              <a:t>The </a:t>
            </a:r>
            <a:r>
              <a:rPr b="1" lang="en-US" sz="1500">
                <a:solidFill>
                  <a:srgbClr val="16192E"/>
                </a:solidFill>
                <a:latin typeface="Calibri"/>
                <a:ea typeface="Calibri"/>
                <a:cs typeface="Calibri"/>
                <a:sym typeface="Calibri"/>
              </a:rPr>
              <a:t>gravitational potential</a:t>
            </a:r>
            <a:r>
              <a:rPr lang="en-US" sz="1500">
                <a:solidFill>
                  <a:srgbClr val="16192E"/>
                </a:solidFill>
                <a:latin typeface="Calibri"/>
                <a:ea typeface="Calibri"/>
                <a:cs typeface="Calibri"/>
                <a:sym typeface="Calibri"/>
              </a:rPr>
              <a:t> Φ: the mass map, including dark matter. A single star accelerates far too slowly to measure directly.</a:t>
            </a:r>
            <a:endParaRPr sz="1800">
              <a:solidFill>
                <a:schemeClr val="dk1"/>
              </a:solidFill>
              <a:latin typeface="Calibri"/>
              <a:ea typeface="Calibri"/>
              <a:cs typeface="Calibri"/>
              <a:sym typeface="Calibri"/>
            </a:endParaRPr>
          </a:p>
        </p:txBody>
      </p:sp>
      <p:pic>
        <p:nvPicPr>
          <p:cNvPr id="51" name="Google Shape;51;p2"/>
          <p:cNvPicPr preferRelativeResize="0"/>
          <p:nvPr/>
        </p:nvPicPr>
        <p:blipFill rotWithShape="1">
          <a:blip r:embed="rId3">
            <a:alphaModFix amt="35000"/>
          </a:blip>
          <a:srcRect b="0" l="0" r="0" t="0"/>
          <a:stretch/>
        </p:blipFill>
        <p:spPr>
          <a:xfrm>
            <a:off x="102780" y="6176518"/>
            <a:ext cx="1074600" cy="594868"/>
          </a:xfrm>
          <a:prstGeom prst="rect">
            <a:avLst/>
          </a:prstGeom>
          <a:noFill/>
          <a:ln>
            <a:noFill/>
          </a:ln>
        </p:spPr>
      </p:pic>
      <p:sp>
        <p:nvSpPr>
          <p:cNvPr id="52" name="Google Shape;52;p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53" name="Google Shape;53;p2"/>
          <p:cNvSpPr/>
          <p:nvPr/>
        </p:nvSpPr>
        <p:spPr>
          <a:xfrm>
            <a:off x="816963" y="5204613"/>
            <a:ext cx="10527600" cy="502800"/>
          </a:xfrm>
          <a:prstGeom prst="roundRect">
            <a:avLst>
              <a:gd fmla="val 3429" name="adj"/>
            </a:avLst>
          </a:prstGeom>
          <a:solidFill>
            <a:srgbClr val="F4F6FB"/>
          </a:solidFill>
          <a:ln cap="flat" cmpd="sng" w="12700">
            <a:solidFill>
              <a:srgbClr val="4753D8"/>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SzPts val="1600"/>
              <a:buNone/>
            </a:pPr>
            <a:r>
              <a:rPr b="1" lang="en-US" sz="1800">
                <a:solidFill>
                  <a:srgbClr val="4753D8"/>
                </a:solidFill>
                <a:latin typeface="Cambria"/>
                <a:ea typeface="Cambria"/>
                <a:cs typeface="Cambria"/>
                <a:sym typeface="Cambria"/>
              </a:rPr>
              <a:t>GOAL: find compact equations for the stellar distribution f and the Galactic potential Φ.</a:t>
            </a:r>
            <a:endParaRPr b="1" sz="1800">
              <a:solidFill>
                <a:srgbClr val="4753D8"/>
              </a:solidFill>
              <a:latin typeface="Cambria"/>
              <a:ea typeface="Cambria"/>
              <a:cs typeface="Cambria"/>
              <a:sym typeface="Cambria"/>
            </a:endParaRPr>
          </a:p>
        </p:txBody>
      </p:sp>
      <p:sp>
        <p:nvSpPr>
          <p:cNvPr id="54" name="Google Shape;54;p2"/>
          <p:cNvSpPr txBox="1"/>
          <p:nvPr/>
        </p:nvSpPr>
        <p:spPr>
          <a:xfrm>
            <a:off x="3549325" y="6605325"/>
            <a:ext cx="693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55" name="Google Shape;55;p2" title="Untitled-1.png"/>
          <p:cNvPicPr preferRelativeResize="0"/>
          <p:nvPr/>
        </p:nvPicPr>
        <p:blipFill>
          <a:blip r:embed="rId4">
            <a:alphaModFix/>
          </a:blip>
          <a:stretch>
            <a:fillRect/>
          </a:stretch>
        </p:blipFill>
        <p:spPr>
          <a:xfrm>
            <a:off x="1825575" y="1287316"/>
            <a:ext cx="8270131" cy="1280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g3f695b6666d_3_0"/>
          <p:cNvSpPr/>
          <p:nvPr/>
        </p:nvSpPr>
        <p:spPr>
          <a:xfrm>
            <a:off x="640080" y="384048"/>
            <a:ext cx="108813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192E"/>
              </a:buClr>
              <a:buSzPts val="3800"/>
              <a:buFont typeface="Cambria"/>
              <a:buNone/>
            </a:pPr>
            <a:r>
              <a:rPr b="1" lang="en-US" sz="3800">
                <a:solidFill>
                  <a:srgbClr val="16192E"/>
                </a:solidFill>
                <a:latin typeface="Cambria"/>
                <a:ea typeface="Cambria"/>
                <a:cs typeface="Cambria"/>
                <a:sym typeface="Cambria"/>
              </a:rPr>
              <a:t>Coordinates and conventions</a:t>
            </a:r>
            <a:endParaRPr sz="3800">
              <a:solidFill>
                <a:schemeClr val="dk1"/>
              </a:solidFill>
              <a:latin typeface="Calibri"/>
              <a:ea typeface="Calibri"/>
              <a:cs typeface="Calibri"/>
              <a:sym typeface="Calibri"/>
            </a:endParaRPr>
          </a:p>
        </p:txBody>
      </p:sp>
      <p:pic>
        <p:nvPicPr>
          <p:cNvPr id="62" name="Google Shape;62;g3f695b6666d_3_0"/>
          <p:cNvPicPr preferRelativeResize="0"/>
          <p:nvPr/>
        </p:nvPicPr>
        <p:blipFill rotWithShape="1">
          <a:blip r:embed="rId3">
            <a:alphaModFix amt="35000"/>
          </a:blip>
          <a:srcRect b="0" l="0" r="0" t="0"/>
          <a:stretch/>
        </p:blipFill>
        <p:spPr>
          <a:xfrm>
            <a:off x="102780" y="6176518"/>
            <a:ext cx="1074600" cy="594868"/>
          </a:xfrm>
          <a:prstGeom prst="rect">
            <a:avLst/>
          </a:prstGeom>
          <a:noFill/>
          <a:ln>
            <a:noFill/>
          </a:ln>
        </p:spPr>
      </p:pic>
      <p:sp>
        <p:nvSpPr>
          <p:cNvPr id="63" name="Google Shape;63;g3f695b6666d_3_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64" name="Google Shape;64;g3f695b6666d_3_0"/>
          <p:cNvSpPr txBox="1"/>
          <p:nvPr/>
        </p:nvSpPr>
        <p:spPr>
          <a:xfrm>
            <a:off x="813525" y="1211500"/>
            <a:ext cx="10489500" cy="5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4753D8"/>
                </a:solidFill>
              </a:rPr>
              <a:t>The galaxy is a </a:t>
            </a:r>
            <a:r>
              <a:rPr b="1" lang="en-US" sz="2000">
                <a:solidFill>
                  <a:srgbClr val="4753D8"/>
                </a:solidFill>
              </a:rPr>
              <a:t>disk</a:t>
            </a:r>
            <a:r>
              <a:rPr lang="en-US" sz="2000">
                <a:solidFill>
                  <a:srgbClr val="4753D8"/>
                </a:solidFill>
              </a:rPr>
              <a:t>: approximately symmetric about its rotation axis, and strongly flattened</a:t>
            </a:r>
            <a:endParaRPr sz="2000">
              <a:solidFill>
                <a:srgbClr val="4753D8"/>
              </a:solidFill>
            </a:endParaRPr>
          </a:p>
        </p:txBody>
      </p:sp>
      <p:pic>
        <p:nvPicPr>
          <p:cNvPr id="65" name="Google Shape;65;g3f695b6666d_3_0"/>
          <p:cNvPicPr preferRelativeResize="0"/>
          <p:nvPr/>
        </p:nvPicPr>
        <p:blipFill>
          <a:blip r:embed="rId4">
            <a:alphaModFix/>
          </a:blip>
          <a:stretch>
            <a:fillRect/>
          </a:stretch>
        </p:blipFill>
        <p:spPr>
          <a:xfrm>
            <a:off x="813525" y="2048641"/>
            <a:ext cx="10662950" cy="687460"/>
          </a:xfrm>
          <a:prstGeom prst="rect">
            <a:avLst/>
          </a:prstGeom>
          <a:noFill/>
          <a:ln>
            <a:noFill/>
          </a:ln>
        </p:spPr>
      </p:pic>
      <p:pic>
        <p:nvPicPr>
          <p:cNvPr id="66" name="Google Shape;66;g3f695b6666d_3_0"/>
          <p:cNvPicPr preferRelativeResize="0"/>
          <p:nvPr/>
        </p:nvPicPr>
        <p:blipFill rotWithShape="1">
          <a:blip r:embed="rId5">
            <a:alphaModFix/>
          </a:blip>
          <a:srcRect b="36131" l="0" r="0" t="0"/>
          <a:stretch/>
        </p:blipFill>
        <p:spPr>
          <a:xfrm>
            <a:off x="613513" y="3012000"/>
            <a:ext cx="11062975" cy="856700"/>
          </a:xfrm>
          <a:prstGeom prst="rect">
            <a:avLst/>
          </a:prstGeom>
          <a:noFill/>
          <a:ln>
            <a:noFill/>
          </a:ln>
        </p:spPr>
      </p:pic>
      <p:sp>
        <p:nvSpPr>
          <p:cNvPr id="67" name="Google Shape;67;g3f695b6666d_3_0"/>
          <p:cNvSpPr txBox="1"/>
          <p:nvPr/>
        </p:nvSpPr>
        <p:spPr>
          <a:xfrm>
            <a:off x="1177375" y="4849875"/>
            <a:ext cx="8125500" cy="10764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4753D8"/>
              </a:buClr>
              <a:buSzPts val="2000"/>
              <a:buAutoNum type="arabicPeriod"/>
            </a:pPr>
            <a:r>
              <a:rPr lang="en-US" sz="2000">
                <a:solidFill>
                  <a:srgbClr val="4753D8"/>
                </a:solidFill>
              </a:rPr>
              <a:t>Guarantees positivity</a:t>
            </a:r>
            <a:endParaRPr sz="2000">
              <a:solidFill>
                <a:srgbClr val="4753D8"/>
              </a:solidFill>
            </a:endParaRPr>
          </a:p>
          <a:p>
            <a:pPr indent="-355600" lvl="0" marL="457200" rtl="0" algn="l">
              <a:spcBef>
                <a:spcPts val="0"/>
              </a:spcBef>
              <a:spcAft>
                <a:spcPts val="0"/>
              </a:spcAft>
              <a:buClr>
                <a:srgbClr val="4753D8"/>
              </a:buClr>
              <a:buSzPts val="2000"/>
              <a:buAutoNum type="arabicPeriod"/>
            </a:pPr>
            <a:r>
              <a:rPr lang="en-US" sz="2000">
                <a:solidFill>
                  <a:srgbClr val="4753D8"/>
                </a:solidFill>
              </a:rPr>
              <a:t>Removes the normalisation; Invariant under f --&gt; cf</a:t>
            </a:r>
            <a:endParaRPr sz="2000">
              <a:solidFill>
                <a:srgbClr val="4753D8"/>
              </a:solidFill>
            </a:endParaRPr>
          </a:p>
          <a:p>
            <a:pPr indent="-355600" lvl="0" marL="457200" rtl="0" algn="l">
              <a:spcBef>
                <a:spcPts val="0"/>
              </a:spcBef>
              <a:spcAft>
                <a:spcPts val="0"/>
              </a:spcAft>
              <a:buClr>
                <a:srgbClr val="4753D8"/>
              </a:buClr>
              <a:buSzPts val="2000"/>
              <a:buAutoNum type="arabicPeriod"/>
            </a:pPr>
            <a:r>
              <a:rPr lang="en-US" sz="2000">
                <a:solidFill>
                  <a:srgbClr val="4753D8"/>
                </a:solidFill>
              </a:rPr>
              <a:t>Removes the trivial solution f = 0 </a:t>
            </a:r>
            <a:endParaRPr sz="2000">
              <a:solidFill>
                <a:srgbClr val="4753D8"/>
              </a:solidFill>
            </a:endParaRPr>
          </a:p>
        </p:txBody>
      </p:sp>
      <p:pic>
        <p:nvPicPr>
          <p:cNvPr id="68" name="Google Shape;68;g3f695b6666d_3_0"/>
          <p:cNvPicPr preferRelativeResize="0"/>
          <p:nvPr/>
        </p:nvPicPr>
        <p:blipFill>
          <a:blip r:embed="rId6">
            <a:alphaModFix/>
          </a:blip>
          <a:stretch>
            <a:fillRect/>
          </a:stretch>
        </p:blipFill>
        <p:spPr>
          <a:xfrm>
            <a:off x="5394925" y="4297000"/>
            <a:ext cx="1371600" cy="448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3f695b6666d_3_25"/>
          <p:cNvSpPr/>
          <p:nvPr/>
        </p:nvSpPr>
        <p:spPr>
          <a:xfrm>
            <a:off x="640080" y="384048"/>
            <a:ext cx="108813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192E"/>
              </a:buClr>
              <a:buSzPts val="3800"/>
              <a:buFont typeface="Cambria"/>
              <a:buNone/>
            </a:pPr>
            <a:r>
              <a:rPr b="1" lang="en-US" sz="3800">
                <a:solidFill>
                  <a:srgbClr val="16192E"/>
                </a:solidFill>
                <a:latin typeface="Cambria"/>
                <a:ea typeface="Cambria"/>
                <a:cs typeface="Cambria"/>
                <a:sym typeface="Cambria"/>
              </a:rPr>
              <a:t>Selection cuts</a:t>
            </a:r>
            <a:endParaRPr sz="3800">
              <a:solidFill>
                <a:schemeClr val="dk1"/>
              </a:solidFill>
              <a:latin typeface="Calibri"/>
              <a:ea typeface="Calibri"/>
              <a:cs typeface="Calibri"/>
              <a:sym typeface="Calibri"/>
            </a:endParaRPr>
          </a:p>
        </p:txBody>
      </p:sp>
      <p:pic>
        <p:nvPicPr>
          <p:cNvPr id="75" name="Google Shape;75;g3f695b6666d_3_25"/>
          <p:cNvPicPr preferRelativeResize="0"/>
          <p:nvPr/>
        </p:nvPicPr>
        <p:blipFill rotWithShape="1">
          <a:blip r:embed="rId3">
            <a:alphaModFix amt="35000"/>
          </a:blip>
          <a:srcRect b="0" l="0" r="0" t="0"/>
          <a:stretch/>
        </p:blipFill>
        <p:spPr>
          <a:xfrm>
            <a:off x="102780" y="6176518"/>
            <a:ext cx="1074600" cy="594868"/>
          </a:xfrm>
          <a:prstGeom prst="rect">
            <a:avLst/>
          </a:prstGeom>
          <a:noFill/>
          <a:ln>
            <a:noFill/>
          </a:ln>
        </p:spPr>
      </p:pic>
      <p:sp>
        <p:nvSpPr>
          <p:cNvPr id="76" name="Google Shape;76;g3f695b6666d_3_2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77" name="Google Shape;77;g3f695b6666d_3_25"/>
          <p:cNvPicPr preferRelativeResize="0"/>
          <p:nvPr/>
        </p:nvPicPr>
        <p:blipFill>
          <a:blip r:embed="rId4">
            <a:alphaModFix/>
          </a:blip>
          <a:stretch>
            <a:fillRect/>
          </a:stretch>
        </p:blipFill>
        <p:spPr>
          <a:xfrm>
            <a:off x="658375" y="1292973"/>
            <a:ext cx="10982325" cy="2314575"/>
          </a:xfrm>
          <a:prstGeom prst="rect">
            <a:avLst/>
          </a:prstGeom>
          <a:noFill/>
          <a:ln>
            <a:noFill/>
          </a:ln>
        </p:spPr>
      </p:pic>
      <p:sp>
        <p:nvSpPr>
          <p:cNvPr id="78" name="Google Shape;78;g3f695b6666d_3_25"/>
          <p:cNvSpPr txBox="1"/>
          <p:nvPr/>
        </p:nvSpPr>
        <p:spPr>
          <a:xfrm>
            <a:off x="1100375" y="3834425"/>
            <a:ext cx="4312200" cy="10161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US" sz="2000">
                <a:solidFill>
                  <a:srgbClr val="0000FF"/>
                </a:solidFill>
              </a:rPr>
              <a:t>Initial: 3x10^7 </a:t>
            </a:r>
            <a:endParaRPr sz="2000">
              <a:solidFill>
                <a:srgbClr val="0000FF"/>
              </a:solidFill>
            </a:endParaRPr>
          </a:p>
          <a:p>
            <a:pPr indent="0" lvl="0" marL="0" rtl="0" algn="l">
              <a:lnSpc>
                <a:spcPct val="200000"/>
              </a:lnSpc>
              <a:spcBef>
                <a:spcPts val="0"/>
              </a:spcBef>
              <a:spcAft>
                <a:spcPts val="0"/>
              </a:spcAft>
              <a:buNone/>
            </a:pPr>
            <a:r>
              <a:rPr lang="en-US" sz="2000">
                <a:solidFill>
                  <a:srgbClr val="0000FF"/>
                </a:solidFill>
              </a:rPr>
              <a:t>After cut: 10^7</a:t>
            </a:r>
            <a:endParaRPr sz="2000">
              <a:solidFill>
                <a:srgbClr val="0000FF"/>
              </a:solidFill>
            </a:endParaRPr>
          </a:p>
          <a:p>
            <a:pPr indent="0" lvl="0" marL="0" rtl="0" algn="l">
              <a:lnSpc>
                <a:spcPct val="200000"/>
              </a:lnSpc>
              <a:spcBef>
                <a:spcPts val="0"/>
              </a:spcBef>
              <a:spcAft>
                <a:spcPts val="0"/>
              </a:spcAft>
              <a:buClr>
                <a:schemeClr val="dk1"/>
              </a:buClr>
              <a:buSzPts val="1100"/>
              <a:buFont typeface="Arial"/>
              <a:buNone/>
            </a:pPr>
            <a:r>
              <a:rPr lang="en-US" sz="2000">
                <a:solidFill>
                  <a:srgbClr val="0000FF"/>
                </a:solidFill>
              </a:rPr>
              <a:t>T</a:t>
            </a:r>
            <a:r>
              <a:rPr lang="en-US" sz="2000">
                <a:solidFill>
                  <a:srgbClr val="0000FF"/>
                </a:solidFill>
              </a:rPr>
              <a:t>rain/validation/test split: 70/15/15</a:t>
            </a:r>
            <a:endParaRPr sz="2200">
              <a:solidFill>
                <a:srgbClr val="0000FF"/>
              </a:solidFill>
            </a:endParaRPr>
          </a:p>
        </p:txBody>
      </p:sp>
      <p:sp>
        <p:nvSpPr>
          <p:cNvPr id="79" name="Google Shape;79;g3f695b6666d_3_25"/>
          <p:cNvSpPr/>
          <p:nvPr/>
        </p:nvSpPr>
        <p:spPr>
          <a:xfrm>
            <a:off x="6838003" y="3607550"/>
            <a:ext cx="48027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192E"/>
              </a:buClr>
              <a:buSzPts val="3800"/>
              <a:buFont typeface="Cambria"/>
              <a:buNone/>
            </a:pPr>
            <a:r>
              <a:rPr lang="en-US" sz="2000">
                <a:solidFill>
                  <a:srgbClr val="E8B23A"/>
                </a:solidFill>
              </a:rPr>
              <a:t>A self-gravitating isothermal sheet has </a:t>
            </a:r>
            <a:endParaRPr sz="2000">
              <a:solidFill>
                <a:srgbClr val="E8B23A"/>
              </a:solidFill>
            </a:endParaRPr>
          </a:p>
        </p:txBody>
      </p:sp>
      <p:pic>
        <p:nvPicPr>
          <p:cNvPr id="80" name="Google Shape;80;g3f695b6666d_3_25"/>
          <p:cNvPicPr preferRelativeResize="0"/>
          <p:nvPr/>
        </p:nvPicPr>
        <p:blipFill>
          <a:blip r:embed="rId5">
            <a:alphaModFix/>
          </a:blip>
          <a:stretch>
            <a:fillRect/>
          </a:stretch>
        </p:blipFill>
        <p:spPr>
          <a:xfrm>
            <a:off x="7647025" y="4248600"/>
            <a:ext cx="2929583" cy="594850"/>
          </a:xfrm>
          <a:prstGeom prst="rect">
            <a:avLst/>
          </a:prstGeom>
          <a:noFill/>
          <a:ln>
            <a:noFill/>
          </a:ln>
        </p:spPr>
      </p:pic>
      <p:pic>
        <p:nvPicPr>
          <p:cNvPr id="81" name="Google Shape;81;g3f695b6666d_3_25"/>
          <p:cNvPicPr preferRelativeResize="0"/>
          <p:nvPr/>
        </p:nvPicPr>
        <p:blipFill>
          <a:blip r:embed="rId6">
            <a:alphaModFix/>
          </a:blip>
          <a:stretch>
            <a:fillRect/>
          </a:stretch>
        </p:blipFill>
        <p:spPr>
          <a:xfrm>
            <a:off x="7440175" y="5014900"/>
            <a:ext cx="3343275" cy="447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3"/>
          <p:cNvSpPr/>
          <p:nvPr/>
        </p:nvSpPr>
        <p:spPr>
          <a:xfrm>
            <a:off x="640080" y="384048"/>
            <a:ext cx="1088136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192E"/>
              </a:buClr>
              <a:buSzPts val="3800"/>
              <a:buFont typeface="Cambria"/>
              <a:buNone/>
            </a:pPr>
            <a:r>
              <a:rPr b="1" lang="en-US" sz="3800">
                <a:solidFill>
                  <a:srgbClr val="16192E"/>
                </a:solidFill>
                <a:latin typeface="Cambria"/>
                <a:ea typeface="Cambria"/>
                <a:cs typeface="Cambria"/>
                <a:sym typeface="Cambria"/>
              </a:rPr>
              <a:t>A perfect residual can describe nothing</a:t>
            </a:r>
            <a:endParaRPr sz="3800">
              <a:solidFill>
                <a:schemeClr val="dk1"/>
              </a:solidFill>
              <a:latin typeface="Calibri"/>
              <a:ea typeface="Calibri"/>
              <a:cs typeface="Calibri"/>
              <a:sym typeface="Calibri"/>
            </a:endParaRPr>
          </a:p>
        </p:txBody>
      </p:sp>
      <p:sp>
        <p:nvSpPr>
          <p:cNvPr id="88" name="Google Shape;88;p3"/>
          <p:cNvSpPr/>
          <p:nvPr/>
        </p:nvSpPr>
        <p:spPr>
          <a:xfrm>
            <a:off x="640080" y="1298448"/>
            <a:ext cx="10881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2E"/>
              </a:buClr>
              <a:buSzPts val="1600"/>
              <a:buFont typeface="Calibri"/>
              <a:buNone/>
            </a:pPr>
            <a:r>
              <a:rPr lang="en-US" sz="1600">
                <a:solidFill>
                  <a:srgbClr val="16192E"/>
                </a:solidFill>
                <a:latin typeface="Calibri"/>
                <a:ea typeface="Calibri"/>
                <a:cs typeface="Calibri"/>
                <a:sym typeface="Calibri"/>
              </a:rPr>
              <a:t>The equation only sees derivatives of ln(f). An empty model can therefore score perfectly without learning the Galaxy.</a:t>
            </a:r>
            <a:endParaRPr sz="1600">
              <a:solidFill>
                <a:schemeClr val="dk1"/>
              </a:solidFill>
              <a:latin typeface="Calibri"/>
              <a:ea typeface="Calibri"/>
              <a:cs typeface="Calibri"/>
              <a:sym typeface="Calibri"/>
            </a:endParaRPr>
          </a:p>
        </p:txBody>
      </p:sp>
      <p:sp>
        <p:nvSpPr>
          <p:cNvPr id="89" name="Google Shape;89;p3"/>
          <p:cNvSpPr/>
          <p:nvPr/>
        </p:nvSpPr>
        <p:spPr>
          <a:xfrm>
            <a:off x="640080" y="1874520"/>
            <a:ext cx="10881360" cy="932688"/>
          </a:xfrm>
          <a:prstGeom prst="roundRect">
            <a:avLst>
              <a:gd fmla="val 5882" name="adj"/>
            </a:avLst>
          </a:prstGeom>
          <a:solidFill>
            <a:srgbClr val="F4F6FB"/>
          </a:solidFill>
          <a:ln cap="flat" cmpd="sng" w="12700">
            <a:solidFill>
              <a:srgbClr val="E3E8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3"/>
          <p:cNvSpPr/>
          <p:nvPr/>
        </p:nvSpPr>
        <p:spPr>
          <a:xfrm>
            <a:off x="914400" y="2148840"/>
            <a:ext cx="384048" cy="384048"/>
          </a:xfrm>
          <a:prstGeom prst="ellipse">
            <a:avLst/>
          </a:prstGeom>
          <a:solidFill>
            <a:srgbClr val="E8B2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3"/>
          <p:cNvSpPr/>
          <p:nvPr/>
        </p:nvSpPr>
        <p:spPr>
          <a:xfrm>
            <a:off x="914400" y="214884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1</a:t>
            </a:r>
            <a:endParaRPr sz="1500">
              <a:solidFill>
                <a:schemeClr val="dk1"/>
              </a:solidFill>
              <a:latin typeface="Calibri"/>
              <a:ea typeface="Calibri"/>
              <a:cs typeface="Calibri"/>
              <a:sym typeface="Calibri"/>
            </a:endParaRPr>
          </a:p>
        </p:txBody>
      </p:sp>
      <p:sp>
        <p:nvSpPr>
          <p:cNvPr id="92" name="Google Shape;92;p3"/>
          <p:cNvSpPr/>
          <p:nvPr/>
        </p:nvSpPr>
        <p:spPr>
          <a:xfrm>
            <a:off x="1444752" y="2304288"/>
            <a:ext cx="9692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2E"/>
              </a:buClr>
              <a:buSzPts val="1300"/>
              <a:buFont typeface="Calibri"/>
              <a:buNone/>
            </a:pPr>
            <a:r>
              <a:rPr lang="en-US" sz="1800">
                <a:solidFill>
                  <a:srgbClr val="16192E"/>
                </a:solidFill>
                <a:latin typeface="Calibri"/>
                <a:ea typeface="Calibri"/>
                <a:cs typeface="Calibri"/>
                <a:sym typeface="Calibri"/>
              </a:rPr>
              <a:t>All derivatives disappear. Loss = 0, regardless of the potential.</a:t>
            </a:r>
            <a:endParaRPr sz="1800">
              <a:solidFill>
                <a:schemeClr val="dk1"/>
              </a:solidFill>
              <a:latin typeface="Calibri"/>
              <a:ea typeface="Calibri"/>
              <a:cs typeface="Calibri"/>
              <a:sym typeface="Calibri"/>
            </a:endParaRPr>
          </a:p>
        </p:txBody>
      </p:sp>
      <p:sp>
        <p:nvSpPr>
          <p:cNvPr id="93" name="Google Shape;93;p3"/>
          <p:cNvSpPr/>
          <p:nvPr/>
        </p:nvSpPr>
        <p:spPr>
          <a:xfrm>
            <a:off x="640080" y="2953512"/>
            <a:ext cx="10881360" cy="932688"/>
          </a:xfrm>
          <a:prstGeom prst="roundRect">
            <a:avLst>
              <a:gd fmla="val 5882" name="adj"/>
            </a:avLst>
          </a:prstGeom>
          <a:solidFill>
            <a:srgbClr val="F4F6FB"/>
          </a:solidFill>
          <a:ln cap="flat" cmpd="sng" w="12700">
            <a:solidFill>
              <a:srgbClr val="E3E8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3"/>
          <p:cNvSpPr/>
          <p:nvPr/>
        </p:nvSpPr>
        <p:spPr>
          <a:xfrm>
            <a:off x="914400" y="3227832"/>
            <a:ext cx="384048" cy="384048"/>
          </a:xfrm>
          <a:prstGeom prst="ellipse">
            <a:avLst/>
          </a:prstGeom>
          <a:solidFill>
            <a:srgbClr val="E8B2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3"/>
          <p:cNvSpPr/>
          <p:nvPr/>
        </p:nvSpPr>
        <p:spPr>
          <a:xfrm>
            <a:off x="914400" y="32278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2</a:t>
            </a:r>
            <a:endParaRPr sz="1500">
              <a:solidFill>
                <a:schemeClr val="dk1"/>
              </a:solidFill>
              <a:latin typeface="Calibri"/>
              <a:ea typeface="Calibri"/>
              <a:cs typeface="Calibri"/>
              <a:sym typeface="Calibri"/>
            </a:endParaRPr>
          </a:p>
        </p:txBody>
      </p:sp>
      <p:sp>
        <p:nvSpPr>
          <p:cNvPr id="96" name="Google Shape;96;p3"/>
          <p:cNvSpPr/>
          <p:nvPr/>
        </p:nvSpPr>
        <p:spPr>
          <a:xfrm>
            <a:off x="1444752" y="3072384"/>
            <a:ext cx="3200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libri"/>
              <a:buNone/>
            </a:pPr>
            <a:r>
              <a:rPr b="1" lang="en-US" sz="2100">
                <a:solidFill>
                  <a:srgbClr val="1E2761"/>
                </a:solidFill>
                <a:latin typeface="Calibri"/>
                <a:ea typeface="Calibri"/>
                <a:cs typeface="Calibri"/>
                <a:sym typeface="Calibri"/>
              </a:rPr>
              <a:t>Φ with no z-dependence</a:t>
            </a:r>
            <a:endParaRPr sz="2100">
              <a:solidFill>
                <a:schemeClr val="dk1"/>
              </a:solidFill>
              <a:latin typeface="Calibri"/>
              <a:ea typeface="Calibri"/>
              <a:cs typeface="Calibri"/>
              <a:sym typeface="Calibri"/>
            </a:endParaRPr>
          </a:p>
        </p:txBody>
      </p:sp>
      <p:sp>
        <p:nvSpPr>
          <p:cNvPr id="97" name="Google Shape;97;p3"/>
          <p:cNvSpPr/>
          <p:nvPr/>
        </p:nvSpPr>
        <p:spPr>
          <a:xfrm>
            <a:off x="1444752" y="3383280"/>
            <a:ext cx="9692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2E"/>
              </a:buClr>
              <a:buSzPts val="1300"/>
              <a:buFont typeface="Calibri"/>
              <a:buNone/>
            </a:pPr>
            <a:r>
              <a:rPr lang="en-US" sz="1800">
                <a:solidFill>
                  <a:srgbClr val="16192E"/>
                </a:solidFill>
                <a:latin typeface="Calibri"/>
                <a:ea typeface="Calibri"/>
                <a:cs typeface="Calibri"/>
                <a:sym typeface="Calibri"/>
              </a:rPr>
              <a:t>No vertical force, so no disc (but the equation can still vanish).</a:t>
            </a:r>
            <a:endParaRPr sz="1800">
              <a:solidFill>
                <a:schemeClr val="dk1"/>
              </a:solidFill>
              <a:latin typeface="Calibri"/>
              <a:ea typeface="Calibri"/>
              <a:cs typeface="Calibri"/>
              <a:sym typeface="Calibri"/>
            </a:endParaRPr>
          </a:p>
        </p:txBody>
      </p:sp>
      <p:sp>
        <p:nvSpPr>
          <p:cNvPr id="98" name="Google Shape;98;p3"/>
          <p:cNvSpPr/>
          <p:nvPr/>
        </p:nvSpPr>
        <p:spPr>
          <a:xfrm>
            <a:off x="640080" y="4032504"/>
            <a:ext cx="10881360" cy="932688"/>
          </a:xfrm>
          <a:prstGeom prst="roundRect">
            <a:avLst>
              <a:gd fmla="val 5882" name="adj"/>
            </a:avLst>
          </a:prstGeom>
          <a:solidFill>
            <a:srgbClr val="F4F6FB"/>
          </a:solidFill>
          <a:ln cap="flat" cmpd="sng" w="12700">
            <a:solidFill>
              <a:srgbClr val="E3E8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3"/>
          <p:cNvSpPr/>
          <p:nvPr/>
        </p:nvSpPr>
        <p:spPr>
          <a:xfrm>
            <a:off x="914400" y="4306824"/>
            <a:ext cx="384048" cy="384048"/>
          </a:xfrm>
          <a:prstGeom prst="ellipse">
            <a:avLst/>
          </a:prstGeom>
          <a:solidFill>
            <a:srgbClr val="E8B2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3"/>
          <p:cNvSpPr/>
          <p:nvPr/>
        </p:nvSpPr>
        <p:spPr>
          <a:xfrm>
            <a:off x="914400" y="430682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3</a:t>
            </a:r>
            <a:endParaRPr sz="1500">
              <a:solidFill>
                <a:schemeClr val="dk1"/>
              </a:solidFill>
              <a:latin typeface="Calibri"/>
              <a:ea typeface="Calibri"/>
              <a:cs typeface="Calibri"/>
              <a:sym typeface="Calibri"/>
            </a:endParaRPr>
          </a:p>
        </p:txBody>
      </p:sp>
      <p:sp>
        <p:nvSpPr>
          <p:cNvPr id="101" name="Google Shape;101;p3"/>
          <p:cNvSpPr/>
          <p:nvPr/>
        </p:nvSpPr>
        <p:spPr>
          <a:xfrm>
            <a:off x="1816711" y="4151376"/>
            <a:ext cx="3200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libri"/>
              <a:buNone/>
            </a:pPr>
            <a:r>
              <a:rPr b="1" lang="en-US" sz="2100">
                <a:solidFill>
                  <a:srgbClr val="1E2761"/>
                </a:solidFill>
                <a:latin typeface="Calibri"/>
                <a:ea typeface="Calibri"/>
                <a:cs typeface="Calibri"/>
                <a:sym typeface="Calibri"/>
              </a:rPr>
              <a:t>                   </a:t>
            </a:r>
            <a:r>
              <a:rPr b="1" lang="en-US" sz="2100">
                <a:solidFill>
                  <a:srgbClr val="1E2761"/>
                </a:solidFill>
                <a:latin typeface="Calibri"/>
                <a:ea typeface="Calibri"/>
                <a:cs typeface="Calibri"/>
                <a:sym typeface="Calibri"/>
              </a:rPr>
              <a:t> — Jeans</a:t>
            </a:r>
            <a:endParaRPr sz="2100">
              <a:solidFill>
                <a:schemeClr val="dk1"/>
              </a:solidFill>
              <a:latin typeface="Calibri"/>
              <a:ea typeface="Calibri"/>
              <a:cs typeface="Calibri"/>
              <a:sym typeface="Calibri"/>
            </a:endParaRPr>
          </a:p>
        </p:txBody>
      </p:sp>
      <p:sp>
        <p:nvSpPr>
          <p:cNvPr id="102" name="Google Shape;102;p3"/>
          <p:cNvSpPr/>
          <p:nvPr/>
        </p:nvSpPr>
        <p:spPr>
          <a:xfrm>
            <a:off x="1444752" y="4462272"/>
            <a:ext cx="9692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2E"/>
              </a:buClr>
              <a:buSzPts val="1300"/>
              <a:buFont typeface="Calibri"/>
              <a:buNone/>
            </a:pPr>
            <a:r>
              <a:rPr lang="en-US" sz="1800">
                <a:solidFill>
                  <a:srgbClr val="16192E"/>
                </a:solidFill>
                <a:latin typeface="Calibri"/>
                <a:ea typeface="Calibri"/>
                <a:cs typeface="Calibri"/>
                <a:sym typeface="Calibri"/>
              </a:rPr>
              <a:t>Exact integrals cancel algebraically before any star is examined —&gt; No variable separable solution</a:t>
            </a:r>
            <a:endParaRPr sz="1800">
              <a:solidFill>
                <a:schemeClr val="dk1"/>
              </a:solidFill>
              <a:latin typeface="Calibri"/>
              <a:ea typeface="Calibri"/>
              <a:cs typeface="Calibri"/>
              <a:sym typeface="Calibri"/>
            </a:endParaRPr>
          </a:p>
        </p:txBody>
      </p:sp>
      <p:sp>
        <p:nvSpPr>
          <p:cNvPr id="103" name="Google Shape;103;p3"/>
          <p:cNvSpPr/>
          <p:nvPr/>
        </p:nvSpPr>
        <p:spPr>
          <a:xfrm>
            <a:off x="640075" y="5193799"/>
            <a:ext cx="10881300" cy="878400"/>
          </a:xfrm>
          <a:prstGeom prst="roundRect">
            <a:avLst>
              <a:gd fmla="val 5556" name="adj"/>
            </a:avLst>
          </a:prstGeom>
          <a:solidFill>
            <a:srgbClr val="FDF6E3"/>
          </a:solidFill>
          <a:ln cap="flat" cmpd="sng" w="12700">
            <a:solidFill>
              <a:srgbClr val="E3E8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3"/>
          <p:cNvSpPr/>
          <p:nvPr/>
        </p:nvSpPr>
        <p:spPr>
          <a:xfrm>
            <a:off x="914425" y="5202957"/>
            <a:ext cx="103326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6A12"/>
              </a:buClr>
              <a:buSzPts val="1400"/>
              <a:buFont typeface="Calibri"/>
              <a:buNone/>
            </a:pPr>
            <a:r>
              <a:rPr b="1" lang="en-US" sz="1900">
                <a:solidFill>
                  <a:srgbClr val="8A6A12"/>
                </a:solidFill>
                <a:latin typeface="Calibri"/>
                <a:ea typeface="Calibri"/>
                <a:cs typeface="Calibri"/>
                <a:sym typeface="Calibri"/>
              </a:rPr>
              <a:t>E</a:t>
            </a:r>
            <a:r>
              <a:rPr b="1" lang="en-US" sz="1900">
                <a:solidFill>
                  <a:srgbClr val="8A6A12"/>
                </a:solidFill>
                <a:latin typeface="Calibri"/>
                <a:ea typeface="Calibri"/>
                <a:cs typeface="Calibri"/>
                <a:sym typeface="Calibri"/>
              </a:rPr>
              <a:t>ven an absurd potential can score ≈ 0.</a:t>
            </a:r>
            <a:br>
              <a:rPr b="1" lang="en-US" sz="1400">
                <a:solidFill>
                  <a:srgbClr val="8A6A12"/>
                </a:solidFill>
                <a:latin typeface="Calibri"/>
                <a:ea typeface="Calibri"/>
                <a:cs typeface="Calibri"/>
                <a:sym typeface="Calibri"/>
              </a:rPr>
            </a:br>
            <a:r>
              <a:rPr lang="en-US">
                <a:solidFill>
                  <a:srgbClr val="16192E"/>
                </a:solidFill>
                <a:latin typeface="Calibri"/>
                <a:ea typeface="Calibri"/>
                <a:cs typeface="Calibri"/>
                <a:sym typeface="Calibri"/>
              </a:rPr>
              <a:t>With </a:t>
            </a:r>
            <a:r>
              <a:rPr b="1" lang="en-US">
                <a:solidFill>
                  <a:srgbClr val="16192E"/>
                </a:solidFill>
                <a:latin typeface="Calibri"/>
                <a:ea typeface="Calibri"/>
                <a:cs typeface="Calibri"/>
                <a:sym typeface="Calibri"/>
              </a:rPr>
              <a:t>Φ = R³ − 7z⁴ + Rz</a:t>
            </a:r>
            <a:r>
              <a:rPr lang="en-US">
                <a:solidFill>
                  <a:srgbClr val="16192E"/>
                </a:solidFill>
                <a:latin typeface="Calibri"/>
                <a:ea typeface="Calibri"/>
                <a:cs typeface="Calibri"/>
                <a:sym typeface="Calibri"/>
              </a:rPr>
              <a:t>, the residual is </a:t>
            </a:r>
            <a:r>
              <a:rPr b="1" lang="en-US">
                <a:solidFill>
                  <a:srgbClr val="16192E"/>
                </a:solidFill>
                <a:latin typeface="Calibri"/>
                <a:ea typeface="Calibri"/>
                <a:cs typeface="Calibri"/>
                <a:sym typeface="Calibri"/>
              </a:rPr>
              <a:t>5.3 × 10⁻¹¹</a:t>
            </a:r>
            <a:r>
              <a:rPr lang="en-US">
                <a:solidFill>
                  <a:srgbClr val="16192E"/>
                </a:solidFill>
                <a:latin typeface="Calibri"/>
                <a:ea typeface="Calibri"/>
                <a:cs typeface="Calibri"/>
                <a:sym typeface="Calibri"/>
              </a:rPr>
              <a:t> while individual terms are </a:t>
            </a:r>
            <a:r>
              <a:rPr b="1" lang="en-US">
                <a:solidFill>
                  <a:srgbClr val="16192E"/>
                </a:solidFill>
                <a:latin typeface="Calibri"/>
                <a:ea typeface="Calibri"/>
                <a:cs typeface="Calibri"/>
                <a:sym typeface="Calibri"/>
              </a:rPr>
              <a:t>~10⁵</a:t>
            </a:r>
            <a:r>
              <a:rPr lang="en-US">
                <a:solidFill>
                  <a:srgbClr val="16192E"/>
                </a:solidFill>
                <a:latin typeface="Calibri"/>
                <a:ea typeface="Calibri"/>
                <a:cs typeface="Calibri"/>
                <a:sym typeface="Calibri"/>
              </a:rPr>
              <a:t>. </a:t>
            </a:r>
            <a:endParaRPr sz="1500">
              <a:solidFill>
                <a:schemeClr val="dk1"/>
              </a:solidFill>
              <a:latin typeface="Calibri"/>
              <a:ea typeface="Calibri"/>
              <a:cs typeface="Calibri"/>
              <a:sym typeface="Calibri"/>
            </a:endParaRPr>
          </a:p>
        </p:txBody>
      </p:sp>
      <p:sp>
        <p:nvSpPr>
          <p:cNvPr id="105" name="Google Shape;105;p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106" name="Google Shape;106;p3" title="equations_transparent.png"/>
          <p:cNvPicPr preferRelativeResize="0"/>
          <p:nvPr/>
        </p:nvPicPr>
        <p:blipFill rotWithShape="1">
          <a:blip r:embed="rId3">
            <a:alphaModFix/>
          </a:blip>
          <a:srcRect b="76907" l="42658" r="37528" t="19020"/>
          <a:stretch/>
        </p:blipFill>
        <p:spPr>
          <a:xfrm>
            <a:off x="631198" y="1773814"/>
            <a:ext cx="3208424" cy="932700"/>
          </a:xfrm>
          <a:prstGeom prst="rect">
            <a:avLst/>
          </a:prstGeom>
          <a:noFill/>
          <a:ln>
            <a:noFill/>
          </a:ln>
        </p:spPr>
      </p:pic>
      <p:pic>
        <p:nvPicPr>
          <p:cNvPr id="107" name="Google Shape;107;p3" title="equations_transparent.png"/>
          <p:cNvPicPr preferRelativeResize="0"/>
          <p:nvPr/>
        </p:nvPicPr>
        <p:blipFill rotWithShape="1">
          <a:blip r:embed="rId3">
            <a:alphaModFix/>
          </a:blip>
          <a:srcRect b="73456" l="42230" r="37956" t="22472"/>
          <a:stretch/>
        </p:blipFill>
        <p:spPr>
          <a:xfrm>
            <a:off x="747428" y="3866747"/>
            <a:ext cx="3208424" cy="932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p:nvPr/>
        </p:nvSpPr>
        <p:spPr>
          <a:xfrm>
            <a:off x="640080" y="384048"/>
            <a:ext cx="1088136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192E"/>
              </a:buClr>
              <a:buSzPts val="3800"/>
              <a:buFont typeface="Cambria"/>
              <a:buNone/>
            </a:pPr>
            <a:r>
              <a:rPr b="1" lang="en-US" sz="3800">
                <a:solidFill>
                  <a:srgbClr val="16192E"/>
                </a:solidFill>
                <a:latin typeface="Cambria"/>
                <a:ea typeface="Cambria"/>
                <a:cs typeface="Cambria"/>
                <a:sym typeface="Cambria"/>
              </a:rPr>
              <a:t>The stars rule out the easiest exact solution</a:t>
            </a:r>
            <a:endParaRPr sz="3800">
              <a:solidFill>
                <a:schemeClr val="dk1"/>
              </a:solidFill>
              <a:latin typeface="Calibri"/>
              <a:ea typeface="Calibri"/>
              <a:cs typeface="Calibri"/>
              <a:sym typeface="Calibri"/>
            </a:endParaRPr>
          </a:p>
        </p:txBody>
      </p:sp>
      <p:sp>
        <p:nvSpPr>
          <p:cNvPr id="114" name="Google Shape;114;p4"/>
          <p:cNvSpPr/>
          <p:nvPr/>
        </p:nvSpPr>
        <p:spPr>
          <a:xfrm>
            <a:off x="640080" y="1280160"/>
            <a:ext cx="108813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2E"/>
              </a:buClr>
              <a:buSzPts val="1500"/>
              <a:buFont typeface="Calibri"/>
              <a:buNone/>
            </a:pPr>
            <a:r>
              <a:rPr lang="en-US" sz="2200">
                <a:solidFill>
                  <a:srgbClr val="16192E"/>
                </a:solidFill>
                <a:latin typeface="Calibri"/>
                <a:ea typeface="Calibri"/>
                <a:cs typeface="Calibri"/>
                <a:sym typeface="Calibri"/>
              </a:rPr>
              <a:t>In any                      , radial and vertical velocities enter energy symmetrically.</a:t>
            </a:r>
            <a:endParaRPr sz="2200">
              <a:solidFill>
                <a:schemeClr val="dk1"/>
              </a:solidFill>
              <a:latin typeface="Calibri"/>
              <a:ea typeface="Calibri"/>
              <a:cs typeface="Calibri"/>
              <a:sym typeface="Calibri"/>
            </a:endParaRPr>
          </a:p>
          <a:p>
            <a:pPr indent="0" lvl="0" marL="0" marR="0" rtl="0" algn="l">
              <a:spcBef>
                <a:spcPts val="0"/>
              </a:spcBef>
              <a:spcAft>
                <a:spcPts val="0"/>
              </a:spcAft>
              <a:buClr>
                <a:srgbClr val="16192E"/>
              </a:buClr>
              <a:buSzPts val="1500"/>
              <a:buFont typeface="Calibri"/>
              <a:buNone/>
            </a:pPr>
            <a:r>
              <a:rPr lang="en-US" sz="2200">
                <a:solidFill>
                  <a:srgbClr val="16192E"/>
                </a:solidFill>
                <a:latin typeface="Calibri"/>
                <a:ea typeface="Calibri"/>
                <a:cs typeface="Calibri"/>
                <a:sym typeface="Calibri"/>
              </a:rPr>
              <a:t>That forces                   , independent of the fitted potential.</a:t>
            </a:r>
            <a:endParaRPr sz="2200">
              <a:solidFill>
                <a:schemeClr val="dk1"/>
              </a:solidFill>
              <a:latin typeface="Calibri"/>
              <a:ea typeface="Calibri"/>
              <a:cs typeface="Calibri"/>
              <a:sym typeface="Calibri"/>
            </a:endParaRPr>
          </a:p>
        </p:txBody>
      </p:sp>
      <p:graphicFrame>
        <p:nvGraphicFramePr>
          <p:cNvPr id="115" name="Google Shape;115;p4"/>
          <p:cNvGraphicFramePr/>
          <p:nvPr/>
        </p:nvGraphicFramePr>
        <p:xfrm>
          <a:off x="640080" y="2240280"/>
          <a:ext cx="3000000" cy="3000000"/>
        </p:xfrm>
        <a:graphic>
          <a:graphicData uri="http://schemas.openxmlformats.org/drawingml/2006/table">
            <a:tbl>
              <a:tblPr>
                <a:noFill/>
                <a:tableStyleId>{B4362CE0-64CA-4DC0-96B7-1EACAC56B7C5}</a:tableStyleId>
              </a:tblPr>
              <a:tblGrid>
                <a:gridCol w="1280150"/>
                <a:gridCol w="1280150"/>
                <a:gridCol w="1280150"/>
                <a:gridCol w="1280150"/>
              </a:tblGrid>
              <a:tr h="384050">
                <a:tc>
                  <a:txBody>
                    <a:bodyPr/>
                    <a:lstStyle/>
                    <a:p>
                      <a:pPr indent="0" lvl="0" marL="0" marR="0" rtl="0" algn="ctr">
                        <a:spcBef>
                          <a:spcPts val="0"/>
                        </a:spcBef>
                        <a:spcAft>
                          <a:spcPts val="0"/>
                        </a:spcAft>
                        <a:buClr>
                          <a:srgbClr val="16192E"/>
                        </a:buClr>
                        <a:buSzPts val="1400"/>
                        <a:buFont typeface="Calibri"/>
                        <a:buNone/>
                      </a:pPr>
                      <a:r>
                        <a:rPr b="1" lang="en-US" sz="1800" u="none" cap="none" strike="noStrike">
                          <a:solidFill>
                            <a:srgbClr val="16192E"/>
                          </a:solidFill>
                          <a:latin typeface="Calibri"/>
                          <a:ea typeface="Calibri"/>
                          <a:cs typeface="Calibri"/>
                          <a:sym typeface="Calibri"/>
                        </a:rPr>
                        <a:t>|z|  [kpc]</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chemeClr val="dk2"/>
                      </a:solidFill>
                      <a:prstDash val="solid"/>
                      <a:round/>
                      <a:headEnd len="sm" w="sm" type="none"/>
                      <a:tailEnd len="sm" w="sm" type="none"/>
                    </a:lnB>
                    <a:solidFill>
                      <a:srgbClr val="EEF3FF"/>
                    </a:solidFill>
                  </a:tcPr>
                </a:tc>
                <a:tc>
                  <a:txBody>
                    <a:bodyPr/>
                    <a:lstStyle/>
                    <a:p>
                      <a:pPr indent="0" lvl="0" marL="0" marR="0" rtl="0" algn="ctr">
                        <a:spcBef>
                          <a:spcPts val="0"/>
                        </a:spcBef>
                        <a:spcAft>
                          <a:spcPts val="0"/>
                        </a:spcAft>
                        <a:buClr>
                          <a:srgbClr val="16192E"/>
                        </a:buClr>
                        <a:buSzPts val="1400"/>
                        <a:buFont typeface="Calibri"/>
                        <a:buNone/>
                      </a:pPr>
                      <a:r>
                        <a:rPr b="1" lang="en-US" sz="1800" u="none" cap="none" strike="noStrike">
                          <a:solidFill>
                            <a:srgbClr val="16192E"/>
                          </a:solidFill>
                          <a:latin typeface="Calibri"/>
                          <a:ea typeface="Calibri"/>
                          <a:cs typeface="Calibri"/>
                          <a:sym typeface="Calibri"/>
                        </a:rPr>
                        <a:t>σ_R</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chemeClr val="dk2"/>
                      </a:solidFill>
                      <a:prstDash val="solid"/>
                      <a:round/>
                      <a:headEnd len="sm" w="sm" type="none"/>
                      <a:tailEnd len="sm" w="sm" type="none"/>
                    </a:lnB>
                    <a:solidFill>
                      <a:srgbClr val="EEF3FF"/>
                    </a:solidFill>
                  </a:tcPr>
                </a:tc>
                <a:tc>
                  <a:txBody>
                    <a:bodyPr/>
                    <a:lstStyle/>
                    <a:p>
                      <a:pPr indent="0" lvl="0" marL="0" marR="0" rtl="0" algn="ctr">
                        <a:spcBef>
                          <a:spcPts val="0"/>
                        </a:spcBef>
                        <a:spcAft>
                          <a:spcPts val="0"/>
                        </a:spcAft>
                        <a:buClr>
                          <a:srgbClr val="16192E"/>
                        </a:buClr>
                        <a:buSzPts val="1400"/>
                        <a:buFont typeface="Calibri"/>
                        <a:buNone/>
                      </a:pPr>
                      <a:r>
                        <a:rPr b="1" lang="en-US" sz="1800" u="none" cap="none" strike="noStrike">
                          <a:solidFill>
                            <a:srgbClr val="16192E"/>
                          </a:solidFill>
                          <a:latin typeface="Calibri"/>
                          <a:ea typeface="Calibri"/>
                          <a:cs typeface="Calibri"/>
                          <a:sym typeface="Calibri"/>
                        </a:rPr>
                        <a:t>σ_z</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chemeClr val="dk2"/>
                      </a:solidFill>
                      <a:prstDash val="solid"/>
                      <a:round/>
                      <a:headEnd len="sm" w="sm" type="none"/>
                      <a:tailEnd len="sm" w="sm" type="none"/>
                    </a:lnB>
                    <a:solidFill>
                      <a:srgbClr val="EEF3FF"/>
                    </a:solidFill>
                  </a:tcPr>
                </a:tc>
                <a:tc>
                  <a:txBody>
                    <a:bodyPr/>
                    <a:lstStyle/>
                    <a:p>
                      <a:pPr indent="0" lvl="0" marL="0" marR="0" rtl="0" algn="ctr">
                        <a:spcBef>
                          <a:spcPts val="0"/>
                        </a:spcBef>
                        <a:spcAft>
                          <a:spcPts val="0"/>
                        </a:spcAft>
                        <a:buClr>
                          <a:srgbClr val="16192E"/>
                        </a:buClr>
                        <a:buSzPts val="1400"/>
                        <a:buFont typeface="Calibri"/>
                        <a:buNone/>
                      </a:pPr>
                      <a:r>
                        <a:rPr b="1" lang="en-US" sz="1800" u="none" cap="none" strike="noStrike">
                          <a:solidFill>
                            <a:srgbClr val="16192E"/>
                          </a:solidFill>
                          <a:latin typeface="Calibri"/>
                          <a:ea typeface="Calibri"/>
                          <a:cs typeface="Calibri"/>
                          <a:sym typeface="Calibri"/>
                        </a:rPr>
                        <a:t>ratio</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chemeClr val="dk2"/>
                      </a:solidFill>
                      <a:prstDash val="solid"/>
                      <a:round/>
                      <a:headEnd len="sm" w="sm" type="none"/>
                      <a:tailEnd len="sm" w="sm" type="none"/>
                    </a:lnB>
                    <a:solidFill>
                      <a:srgbClr val="EEF3FF"/>
                    </a:solidFill>
                  </a:tcPr>
                </a:tc>
              </a:tr>
              <a:tr h="384050">
                <a:tc>
                  <a:txBody>
                    <a:bodyPr/>
                    <a:lstStyle/>
                    <a:p>
                      <a:pPr indent="0" lvl="0" marL="0" marR="0" rtl="0" algn="ctr">
                        <a:spcBef>
                          <a:spcPts val="0"/>
                        </a:spcBef>
                        <a:spcAft>
                          <a:spcPts val="0"/>
                        </a:spcAft>
                        <a:buClr>
                          <a:srgbClr val="16192E"/>
                        </a:buClr>
                        <a:buSzPts val="1400"/>
                        <a:buFont typeface="Calibri"/>
                        <a:buNone/>
                      </a:pPr>
                      <a:r>
                        <a:rPr lang="en-US" sz="1800" u="none" cap="none" strike="noStrike">
                          <a:solidFill>
                            <a:srgbClr val="16192E"/>
                          </a:solidFill>
                          <a:latin typeface="Calibri"/>
                          <a:ea typeface="Calibri"/>
                          <a:cs typeface="Calibri"/>
                          <a:sym typeface="Calibri"/>
                        </a:rPr>
                        <a:t>|z| &lt; 0.1</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192E"/>
                        </a:buClr>
                        <a:buSzPts val="1400"/>
                        <a:buFont typeface="Calibri"/>
                        <a:buNone/>
                      </a:pPr>
                      <a:r>
                        <a:rPr lang="en-US" sz="1800" u="none" cap="none" strike="noStrike">
                          <a:solidFill>
                            <a:srgbClr val="16192E"/>
                          </a:solidFill>
                          <a:latin typeface="Calibri"/>
                          <a:ea typeface="Calibri"/>
                          <a:cs typeface="Calibri"/>
                          <a:sym typeface="Calibri"/>
                        </a:rPr>
                        <a:t>35.2</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192E"/>
                        </a:buClr>
                        <a:buSzPts val="1400"/>
                        <a:buFont typeface="Calibri"/>
                        <a:buNone/>
                      </a:pPr>
                      <a:r>
                        <a:rPr lang="en-US" sz="1800" u="none" cap="none" strike="noStrike">
                          <a:solidFill>
                            <a:srgbClr val="16192E"/>
                          </a:solidFill>
                          <a:latin typeface="Calibri"/>
                          <a:ea typeface="Calibri"/>
                          <a:cs typeface="Calibri"/>
                          <a:sym typeface="Calibri"/>
                        </a:rPr>
                        <a:t>18.2</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43B3B"/>
                        </a:buClr>
                        <a:buSzPts val="1400"/>
                        <a:buFont typeface="Calibri"/>
                        <a:buNone/>
                      </a:pPr>
                      <a:r>
                        <a:rPr b="1" lang="en-US" sz="1800" u="none" cap="none" strike="noStrike">
                          <a:solidFill>
                            <a:srgbClr val="C43B3B"/>
                          </a:solidFill>
                          <a:latin typeface="Calibri"/>
                          <a:ea typeface="Calibri"/>
                          <a:cs typeface="Calibri"/>
                          <a:sym typeface="Calibri"/>
                        </a:rPr>
                        <a:t>1.93</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r>
              <a:tr h="384050">
                <a:tc>
                  <a:txBody>
                    <a:bodyPr/>
                    <a:lstStyle/>
                    <a:p>
                      <a:pPr indent="0" lvl="0" marL="0" marR="0" rtl="0" algn="ctr">
                        <a:spcBef>
                          <a:spcPts val="0"/>
                        </a:spcBef>
                        <a:spcAft>
                          <a:spcPts val="0"/>
                        </a:spcAft>
                        <a:buClr>
                          <a:srgbClr val="16192E"/>
                        </a:buClr>
                        <a:buSzPts val="1400"/>
                        <a:buFont typeface="Calibri"/>
                        <a:buNone/>
                      </a:pPr>
                      <a:r>
                        <a:rPr lang="en-US" sz="1800" u="none" cap="none" strike="noStrike">
                          <a:solidFill>
                            <a:srgbClr val="16192E"/>
                          </a:solidFill>
                          <a:latin typeface="Calibri"/>
                          <a:ea typeface="Calibri"/>
                          <a:cs typeface="Calibri"/>
                          <a:sym typeface="Calibri"/>
                        </a:rPr>
                        <a:t>0.2 – 0.4</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192E"/>
                        </a:buClr>
                        <a:buSzPts val="1400"/>
                        <a:buFont typeface="Calibri"/>
                        <a:buNone/>
                      </a:pPr>
                      <a:r>
                        <a:rPr lang="en-US" sz="1800" u="none" cap="none" strike="noStrike">
                          <a:solidFill>
                            <a:srgbClr val="16192E"/>
                          </a:solidFill>
                          <a:latin typeface="Calibri"/>
                          <a:ea typeface="Calibri"/>
                          <a:cs typeface="Calibri"/>
                          <a:sym typeface="Calibri"/>
                        </a:rPr>
                        <a:t>40.5</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192E"/>
                        </a:buClr>
                        <a:buSzPts val="1400"/>
                        <a:buFont typeface="Calibri"/>
                        <a:buNone/>
                      </a:pPr>
                      <a:r>
                        <a:rPr lang="en-US" sz="1800" u="none" cap="none" strike="noStrike">
                          <a:solidFill>
                            <a:srgbClr val="16192E"/>
                          </a:solidFill>
                          <a:latin typeface="Calibri"/>
                          <a:ea typeface="Calibri"/>
                          <a:cs typeface="Calibri"/>
                          <a:sym typeface="Calibri"/>
                        </a:rPr>
                        <a:t>22.1</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43B3B"/>
                        </a:buClr>
                        <a:buSzPts val="1400"/>
                        <a:buFont typeface="Calibri"/>
                        <a:buNone/>
                      </a:pPr>
                      <a:r>
                        <a:rPr b="1" lang="en-US" sz="1800" u="none" cap="none" strike="noStrike">
                          <a:solidFill>
                            <a:srgbClr val="C43B3B"/>
                          </a:solidFill>
                          <a:latin typeface="Calibri"/>
                          <a:ea typeface="Calibri"/>
                          <a:cs typeface="Calibri"/>
                          <a:sym typeface="Calibri"/>
                        </a:rPr>
                        <a:t>1.83</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r>
              <a:tr h="384050">
                <a:tc>
                  <a:txBody>
                    <a:bodyPr/>
                    <a:lstStyle/>
                    <a:p>
                      <a:pPr indent="0" lvl="0" marL="0" marR="0" rtl="0" algn="ctr">
                        <a:spcBef>
                          <a:spcPts val="0"/>
                        </a:spcBef>
                        <a:spcAft>
                          <a:spcPts val="0"/>
                        </a:spcAft>
                        <a:buClr>
                          <a:srgbClr val="16192E"/>
                        </a:buClr>
                        <a:buSzPts val="1400"/>
                        <a:buFont typeface="Calibri"/>
                        <a:buNone/>
                      </a:pPr>
                      <a:r>
                        <a:rPr lang="en-US" sz="1800" u="none" cap="none" strike="noStrike">
                          <a:solidFill>
                            <a:srgbClr val="16192E"/>
                          </a:solidFill>
                          <a:latin typeface="Calibri"/>
                          <a:ea typeface="Calibri"/>
                          <a:cs typeface="Calibri"/>
                          <a:sym typeface="Calibri"/>
                        </a:rPr>
                        <a:t>0.4 – 0.7</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192E"/>
                        </a:buClr>
                        <a:buSzPts val="1400"/>
                        <a:buFont typeface="Calibri"/>
                        <a:buNone/>
                      </a:pPr>
                      <a:r>
                        <a:rPr lang="en-US" sz="1800" u="none" cap="none" strike="noStrike">
                          <a:solidFill>
                            <a:srgbClr val="16192E"/>
                          </a:solidFill>
                          <a:latin typeface="Calibri"/>
                          <a:ea typeface="Calibri"/>
                          <a:cs typeface="Calibri"/>
                          <a:sym typeface="Calibri"/>
                        </a:rPr>
                        <a:t>44.8</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192E"/>
                        </a:buClr>
                        <a:buSzPts val="1400"/>
                        <a:buFont typeface="Calibri"/>
                        <a:buNone/>
                      </a:pPr>
                      <a:r>
                        <a:rPr lang="en-US" sz="1800" u="none" cap="none" strike="noStrike">
                          <a:solidFill>
                            <a:srgbClr val="16192E"/>
                          </a:solidFill>
                          <a:latin typeface="Calibri"/>
                          <a:ea typeface="Calibri"/>
                          <a:cs typeface="Calibri"/>
                          <a:sym typeface="Calibri"/>
                        </a:rPr>
                        <a:t>25.6</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43B3B"/>
                        </a:buClr>
                        <a:buSzPts val="1400"/>
                        <a:buFont typeface="Calibri"/>
                        <a:buNone/>
                      </a:pPr>
                      <a:r>
                        <a:rPr b="1" lang="en-US" sz="1800" u="none" cap="none" strike="noStrike">
                          <a:solidFill>
                            <a:srgbClr val="C43B3B"/>
                          </a:solidFill>
                          <a:latin typeface="Calibri"/>
                          <a:ea typeface="Calibri"/>
                          <a:cs typeface="Calibri"/>
                          <a:sym typeface="Calibri"/>
                        </a:rPr>
                        <a:t>1.75</a:t>
                      </a:r>
                      <a:endParaRPr sz="1800"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r>
            </a:tbl>
          </a:graphicData>
        </a:graphic>
      </p:graphicFrame>
      <p:sp>
        <p:nvSpPr>
          <p:cNvPr id="116" name="Google Shape;116;p4"/>
          <p:cNvSpPr/>
          <p:nvPr/>
        </p:nvSpPr>
        <p:spPr>
          <a:xfrm>
            <a:off x="6148125" y="2408725"/>
            <a:ext cx="2815500" cy="457200"/>
          </a:xfrm>
          <a:prstGeom prst="roundRect">
            <a:avLst>
              <a:gd fmla="val 2857" name="adj"/>
            </a:avLst>
          </a:prstGeom>
          <a:solidFill>
            <a:srgbClr val="FBEAEA"/>
          </a:solidFill>
          <a:ln cap="flat" cmpd="sng" w="12700">
            <a:solidFill>
              <a:srgbClr val="C43B3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4"/>
          <p:cNvSpPr/>
          <p:nvPr/>
        </p:nvSpPr>
        <p:spPr>
          <a:xfrm>
            <a:off x="6208283" y="2240283"/>
            <a:ext cx="4297800" cy="165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3B3B"/>
              </a:buClr>
              <a:buSzPts val="1500"/>
              <a:buFont typeface="Calibri"/>
              <a:buNone/>
            </a:pPr>
            <a:r>
              <a:rPr b="1" lang="en-US" sz="1500">
                <a:solidFill>
                  <a:srgbClr val="C43B3B"/>
                </a:solidFill>
                <a:latin typeface="Calibri"/>
                <a:ea typeface="Calibri"/>
                <a:cs typeface="Calibri"/>
                <a:sym typeface="Calibri"/>
              </a:rPr>
              <a:t>The data are strongly anisotropic.</a:t>
            </a:r>
            <a:br>
              <a:rPr b="1" lang="en-US" sz="1500">
                <a:solidFill>
                  <a:srgbClr val="C43B3B"/>
                </a:solidFill>
                <a:latin typeface="Calibri"/>
                <a:ea typeface="Calibri"/>
                <a:cs typeface="Calibri"/>
                <a:sym typeface="Calibri"/>
              </a:rPr>
            </a:br>
            <a:br>
              <a:rPr b="1" lang="en-US" sz="1500">
                <a:solidFill>
                  <a:srgbClr val="C43B3B"/>
                </a:solidFill>
                <a:latin typeface="Calibri"/>
                <a:ea typeface="Calibri"/>
                <a:cs typeface="Calibri"/>
                <a:sym typeface="Calibri"/>
              </a:rPr>
            </a:b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16192E"/>
              </a:buClr>
              <a:buSzPts val="1400"/>
              <a:buFont typeface="Calibri"/>
              <a:buNone/>
            </a:pPr>
            <a:r>
              <a:rPr lang="en-US" sz="1400">
                <a:solidFill>
                  <a:srgbClr val="16192E"/>
                </a:solidFill>
                <a:latin typeface="Calibri"/>
                <a:ea typeface="Calibri"/>
                <a:cs typeface="Calibri"/>
                <a:sym typeface="Calibri"/>
              </a:rPr>
              <a:t>Near the midplane,                    </a:t>
            </a:r>
            <a:r>
              <a:rPr b="1" lang="en-US">
                <a:solidFill>
                  <a:srgbClr val="16192E"/>
                </a:solidFill>
                <a:latin typeface="Calibri"/>
                <a:ea typeface="Calibri"/>
                <a:cs typeface="Calibri"/>
                <a:sym typeface="Calibri"/>
              </a:rPr>
              <a:t>       </a:t>
            </a:r>
            <a:r>
              <a:rPr lang="en-US" sz="1400">
                <a:solidFill>
                  <a:srgbClr val="16192E"/>
                </a:solidFill>
                <a:latin typeface="Calibri"/>
                <a:ea typeface="Calibri"/>
                <a:cs typeface="Calibri"/>
                <a:sym typeface="Calibri"/>
              </a:rPr>
              <a:t>,   </a:t>
            </a:r>
            <a:r>
              <a:rPr lang="en-US">
                <a:solidFill>
                  <a:srgbClr val="16192E"/>
                </a:solidFill>
                <a:latin typeface="Calibri"/>
                <a:ea typeface="Calibri"/>
                <a:cs typeface="Calibri"/>
                <a:sym typeface="Calibri"/>
              </a:rPr>
              <a:t>, </a:t>
            </a:r>
            <a:r>
              <a:rPr lang="en-US" sz="1400">
                <a:solidFill>
                  <a:srgbClr val="16192E"/>
                </a:solidFill>
                <a:latin typeface="Calibri"/>
                <a:ea typeface="Calibri"/>
                <a:cs typeface="Calibri"/>
                <a:sym typeface="Calibri"/>
              </a:rPr>
              <a:t>not 1. </a:t>
            </a:r>
            <a:endParaRPr sz="1400">
              <a:solidFill>
                <a:srgbClr val="16192E"/>
              </a:solidFill>
              <a:latin typeface="Calibri"/>
              <a:ea typeface="Calibri"/>
              <a:cs typeface="Calibri"/>
              <a:sym typeface="Calibri"/>
            </a:endParaRPr>
          </a:p>
          <a:p>
            <a:pPr indent="0" lvl="0" marL="0" marR="0" rtl="0" algn="l">
              <a:spcBef>
                <a:spcPts val="0"/>
              </a:spcBef>
              <a:spcAft>
                <a:spcPts val="0"/>
              </a:spcAft>
              <a:buClr>
                <a:srgbClr val="16192E"/>
              </a:buClr>
              <a:buSzPts val="1400"/>
              <a:buFont typeface="Calibri"/>
              <a:buNone/>
            </a:pPr>
            <a:r>
              <a:rPr lang="en-US" sz="1400">
                <a:solidFill>
                  <a:srgbClr val="16192E"/>
                </a:solidFill>
                <a:latin typeface="Calibri"/>
                <a:ea typeface="Calibri"/>
                <a:cs typeface="Calibri"/>
                <a:sym typeface="Calibri"/>
              </a:rPr>
              <a:t>An exact two-integral solution cannot describe these stars.</a:t>
            </a:r>
            <a:endParaRPr sz="1500">
              <a:solidFill>
                <a:schemeClr val="dk1"/>
              </a:solidFill>
              <a:latin typeface="Calibri"/>
              <a:ea typeface="Calibri"/>
              <a:cs typeface="Calibri"/>
              <a:sym typeface="Calibri"/>
            </a:endParaRPr>
          </a:p>
        </p:txBody>
      </p:sp>
      <p:sp>
        <p:nvSpPr>
          <p:cNvPr id="118" name="Google Shape;118;p4"/>
          <p:cNvSpPr/>
          <p:nvPr/>
        </p:nvSpPr>
        <p:spPr>
          <a:xfrm>
            <a:off x="816955" y="5120640"/>
            <a:ext cx="108813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400"/>
              <a:buFont typeface="Calibri"/>
              <a:buNone/>
            </a:pPr>
            <a:r>
              <a:rPr lang="en-US" sz="1400">
                <a:solidFill>
                  <a:schemeClr val="dk1"/>
                </a:solidFill>
                <a:latin typeface="Calibri"/>
                <a:ea typeface="Calibri"/>
                <a:cs typeface="Calibri"/>
                <a:sym typeface="Calibri"/>
              </a:rPr>
              <a:t>We therefore track both equation residual and</a:t>
            </a:r>
            <a:r>
              <a:rPr b="1" lang="en-US">
                <a:solidFill>
                  <a:schemeClr val="dk1"/>
                </a:solidFill>
                <a:latin typeface="Calibri"/>
                <a:ea typeface="Calibri"/>
                <a:cs typeface="Calibri"/>
                <a:sym typeface="Calibri"/>
              </a:rPr>
              <a:t>                   </a:t>
            </a:r>
            <a:r>
              <a:rPr lang="en-US" sz="1400">
                <a:solidFill>
                  <a:schemeClr val="dk1"/>
                </a:solidFill>
                <a:latin typeface="Calibri"/>
                <a:ea typeface="Calibri"/>
                <a:cs typeface="Calibri"/>
                <a:sym typeface="Calibri"/>
              </a:rPr>
              <a:t>. A candidate near 1 has collapsed onto the degenerate family.</a:t>
            </a:r>
            <a:endParaRPr sz="1400">
              <a:solidFill>
                <a:schemeClr val="dk1"/>
              </a:solidFill>
              <a:latin typeface="Calibri"/>
              <a:ea typeface="Calibri"/>
              <a:cs typeface="Calibri"/>
              <a:sym typeface="Calibri"/>
            </a:endParaRPr>
          </a:p>
        </p:txBody>
      </p:sp>
      <p:sp>
        <p:nvSpPr>
          <p:cNvPr id="119" name="Google Shape;119;p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120" name="Google Shape;120;p4"/>
          <p:cNvSpPr/>
          <p:nvPr/>
        </p:nvSpPr>
        <p:spPr>
          <a:xfrm>
            <a:off x="816950" y="4617838"/>
            <a:ext cx="10527600" cy="502800"/>
          </a:xfrm>
          <a:prstGeom prst="roundRect">
            <a:avLst>
              <a:gd fmla="val 3429" name="adj"/>
            </a:avLst>
          </a:prstGeom>
          <a:solidFill>
            <a:srgbClr val="F4F6FB"/>
          </a:solidFill>
          <a:ln cap="flat" cmpd="sng" w="12700">
            <a:solidFill>
              <a:srgbClr val="4753D8"/>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SzPts val="1600"/>
              <a:buNone/>
            </a:pPr>
            <a:r>
              <a:rPr b="1" lang="en-US" sz="1900">
                <a:solidFill>
                  <a:srgbClr val="4753D8"/>
                </a:solidFill>
                <a:latin typeface="Cambria"/>
                <a:ea typeface="Cambria"/>
                <a:cs typeface="Cambria"/>
                <a:sym typeface="Cambria"/>
              </a:rPr>
              <a:t>A nonzero residual can be more physical than a perfect one.</a:t>
            </a:r>
            <a:endParaRPr b="1" sz="1900">
              <a:solidFill>
                <a:srgbClr val="4753D8"/>
              </a:solidFill>
              <a:latin typeface="Cambria"/>
              <a:ea typeface="Cambria"/>
              <a:cs typeface="Cambria"/>
              <a:sym typeface="Cambria"/>
            </a:endParaRPr>
          </a:p>
        </p:txBody>
      </p:sp>
      <p:pic>
        <p:nvPicPr>
          <p:cNvPr id="121" name="Google Shape;121;p4"/>
          <p:cNvPicPr preferRelativeResize="0"/>
          <p:nvPr/>
        </p:nvPicPr>
        <p:blipFill>
          <a:blip r:embed="rId3">
            <a:alphaModFix/>
          </a:blip>
          <a:stretch>
            <a:fillRect/>
          </a:stretch>
        </p:blipFill>
        <p:spPr>
          <a:xfrm>
            <a:off x="1958325" y="1764075"/>
            <a:ext cx="1118402" cy="274325"/>
          </a:xfrm>
          <a:prstGeom prst="rect">
            <a:avLst/>
          </a:prstGeom>
          <a:noFill/>
          <a:ln>
            <a:noFill/>
          </a:ln>
        </p:spPr>
      </p:pic>
      <p:pic>
        <p:nvPicPr>
          <p:cNvPr id="122" name="Google Shape;122;p4"/>
          <p:cNvPicPr preferRelativeResize="0"/>
          <p:nvPr/>
        </p:nvPicPr>
        <p:blipFill>
          <a:blip r:embed="rId4">
            <a:alphaModFix/>
          </a:blip>
          <a:stretch>
            <a:fillRect/>
          </a:stretch>
        </p:blipFill>
        <p:spPr>
          <a:xfrm>
            <a:off x="1363259" y="1405875"/>
            <a:ext cx="1341816" cy="274325"/>
          </a:xfrm>
          <a:prstGeom prst="rect">
            <a:avLst/>
          </a:prstGeom>
          <a:noFill/>
          <a:ln>
            <a:noFill/>
          </a:ln>
        </p:spPr>
      </p:pic>
      <p:pic>
        <p:nvPicPr>
          <p:cNvPr id="123" name="Google Shape;123;p4"/>
          <p:cNvPicPr preferRelativeResize="0"/>
          <p:nvPr/>
        </p:nvPicPr>
        <p:blipFill>
          <a:blip r:embed="rId5">
            <a:alphaModFix/>
          </a:blip>
          <a:stretch>
            <a:fillRect/>
          </a:stretch>
        </p:blipFill>
        <p:spPr>
          <a:xfrm>
            <a:off x="7639050" y="3181433"/>
            <a:ext cx="1174304" cy="274325"/>
          </a:xfrm>
          <a:prstGeom prst="rect">
            <a:avLst/>
          </a:prstGeom>
          <a:noFill/>
          <a:ln>
            <a:noFill/>
          </a:ln>
        </p:spPr>
      </p:pic>
      <p:pic>
        <p:nvPicPr>
          <p:cNvPr id="124" name="Google Shape;124;p4"/>
          <p:cNvPicPr preferRelativeResize="0"/>
          <p:nvPr/>
        </p:nvPicPr>
        <p:blipFill rotWithShape="1">
          <a:blip r:embed="rId5">
            <a:alphaModFix/>
          </a:blip>
          <a:srcRect b="15789" l="0" r="49472" t="0"/>
          <a:stretch/>
        </p:blipFill>
        <p:spPr>
          <a:xfrm>
            <a:off x="5348275" y="5265488"/>
            <a:ext cx="704593" cy="274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p:nvPr/>
        </p:nvSpPr>
        <p:spPr>
          <a:xfrm>
            <a:off x="640080" y="384048"/>
            <a:ext cx="1088136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192E"/>
              </a:buClr>
              <a:buSzPts val="3800"/>
              <a:buFont typeface="Cambria"/>
              <a:buNone/>
            </a:pPr>
            <a:r>
              <a:rPr b="1" lang="en-US" sz="3800">
                <a:solidFill>
                  <a:srgbClr val="16192E"/>
                </a:solidFill>
                <a:latin typeface="Cambria"/>
                <a:ea typeface="Cambria"/>
                <a:cs typeface="Cambria"/>
                <a:sym typeface="Cambria"/>
              </a:rPr>
              <a:t>Measure the force first; fit equations second</a:t>
            </a:r>
            <a:endParaRPr sz="3800">
              <a:solidFill>
                <a:schemeClr val="dk1"/>
              </a:solidFill>
              <a:latin typeface="Calibri"/>
              <a:ea typeface="Calibri"/>
              <a:cs typeface="Calibri"/>
              <a:sym typeface="Calibri"/>
            </a:endParaRPr>
          </a:p>
        </p:txBody>
      </p:sp>
      <p:sp>
        <p:nvSpPr>
          <p:cNvPr id="131" name="Google Shape;131;p5"/>
          <p:cNvSpPr/>
          <p:nvPr/>
        </p:nvSpPr>
        <p:spPr>
          <a:xfrm>
            <a:off x="640080" y="1280160"/>
            <a:ext cx="1088136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192E"/>
              </a:buClr>
              <a:buSzPts val="1500"/>
              <a:buFont typeface="Calibri"/>
              <a:buNone/>
            </a:pPr>
            <a:r>
              <a:rPr lang="en-US" sz="1500">
                <a:solidFill>
                  <a:srgbClr val="16192E"/>
                </a:solidFill>
                <a:latin typeface="Calibri"/>
                <a:ea typeface="Calibri"/>
                <a:cs typeface="Calibri"/>
                <a:sym typeface="Calibri"/>
              </a:rPr>
              <a:t>We removed CBE residual from the training objective and use it only as a final diagnostic. That avoids rewarding empty solutions.</a:t>
            </a:r>
            <a:endParaRPr sz="1500">
              <a:solidFill>
                <a:schemeClr val="dk1"/>
              </a:solidFill>
              <a:latin typeface="Calibri"/>
              <a:ea typeface="Calibri"/>
              <a:cs typeface="Calibri"/>
              <a:sym typeface="Calibri"/>
            </a:endParaRPr>
          </a:p>
        </p:txBody>
      </p:sp>
      <p:sp>
        <p:nvSpPr>
          <p:cNvPr id="132" name="Google Shape;132;p5"/>
          <p:cNvSpPr/>
          <p:nvPr/>
        </p:nvSpPr>
        <p:spPr>
          <a:xfrm>
            <a:off x="640080" y="2194560"/>
            <a:ext cx="2578608" cy="2331720"/>
          </a:xfrm>
          <a:prstGeom prst="roundRect">
            <a:avLst>
              <a:gd fmla="val 2353" name="adj"/>
            </a:avLst>
          </a:prstGeom>
          <a:solidFill>
            <a:srgbClr val="F4F6FB"/>
          </a:solidFill>
          <a:ln cap="flat" cmpd="sng" w="12700">
            <a:solidFill>
              <a:srgbClr val="E3E8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5"/>
          <p:cNvSpPr/>
          <p:nvPr/>
        </p:nvSpPr>
        <p:spPr>
          <a:xfrm>
            <a:off x="763283" y="2294181"/>
            <a:ext cx="384000" cy="384000"/>
          </a:xfrm>
          <a:prstGeom prst="ellipse">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5"/>
          <p:cNvSpPr/>
          <p:nvPr/>
        </p:nvSpPr>
        <p:spPr>
          <a:xfrm>
            <a:off x="763283" y="2294181"/>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1</a:t>
            </a:r>
            <a:endParaRPr sz="1500">
              <a:solidFill>
                <a:schemeClr val="dk1"/>
              </a:solidFill>
              <a:latin typeface="Calibri"/>
              <a:ea typeface="Calibri"/>
              <a:cs typeface="Calibri"/>
              <a:sym typeface="Calibri"/>
            </a:endParaRPr>
          </a:p>
        </p:txBody>
      </p:sp>
      <p:sp>
        <p:nvSpPr>
          <p:cNvPr id="135" name="Google Shape;135;p5"/>
          <p:cNvSpPr/>
          <p:nvPr/>
        </p:nvSpPr>
        <p:spPr>
          <a:xfrm>
            <a:off x="859536" y="2812021"/>
            <a:ext cx="2148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libri"/>
              <a:buNone/>
            </a:pPr>
            <a:r>
              <a:rPr b="1" lang="en-US" sz="1800">
                <a:solidFill>
                  <a:srgbClr val="1E2761"/>
                </a:solidFill>
                <a:latin typeface="Calibri"/>
                <a:ea typeface="Calibri"/>
                <a:cs typeface="Calibri"/>
                <a:sym typeface="Calibri"/>
              </a:rPr>
              <a:t>Correct survey bias</a:t>
            </a:r>
            <a:endParaRPr sz="1800">
              <a:solidFill>
                <a:schemeClr val="dk1"/>
              </a:solidFill>
              <a:latin typeface="Calibri"/>
              <a:ea typeface="Calibri"/>
              <a:cs typeface="Calibri"/>
              <a:sym typeface="Calibri"/>
            </a:endParaRPr>
          </a:p>
        </p:txBody>
      </p:sp>
      <p:sp>
        <p:nvSpPr>
          <p:cNvPr id="136" name="Google Shape;136;p5"/>
          <p:cNvSpPr/>
          <p:nvPr/>
        </p:nvSpPr>
        <p:spPr>
          <a:xfrm>
            <a:off x="859525" y="3224473"/>
            <a:ext cx="2148900" cy="118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192E"/>
              </a:buClr>
              <a:buSzPts val="1250"/>
              <a:buFont typeface="Calibri"/>
              <a:buNone/>
            </a:pPr>
            <a:r>
              <a:rPr lang="en-US" sz="1450">
                <a:solidFill>
                  <a:srgbClr val="16192E"/>
                </a:solidFill>
                <a:latin typeface="Calibri"/>
                <a:ea typeface="Calibri"/>
                <a:cs typeface="Calibri"/>
                <a:sym typeface="Calibri"/>
              </a:rPr>
              <a:t>Model where Gaia sees stars. Otherwise selection creates a false spatial gradient.</a:t>
            </a:r>
            <a:endParaRPr sz="1450">
              <a:solidFill>
                <a:schemeClr val="dk1"/>
              </a:solidFill>
              <a:latin typeface="Calibri"/>
              <a:ea typeface="Calibri"/>
              <a:cs typeface="Calibri"/>
              <a:sym typeface="Calibri"/>
            </a:endParaRPr>
          </a:p>
        </p:txBody>
      </p:sp>
      <p:sp>
        <p:nvSpPr>
          <p:cNvPr id="137" name="Google Shape;137;p5"/>
          <p:cNvSpPr/>
          <p:nvPr/>
        </p:nvSpPr>
        <p:spPr>
          <a:xfrm>
            <a:off x="3401568" y="2194560"/>
            <a:ext cx="2578608" cy="2331720"/>
          </a:xfrm>
          <a:prstGeom prst="roundRect">
            <a:avLst>
              <a:gd fmla="val 2353" name="adj"/>
            </a:avLst>
          </a:prstGeom>
          <a:solidFill>
            <a:srgbClr val="F4F6FB"/>
          </a:solidFill>
          <a:ln cap="flat" cmpd="sng" w="12700">
            <a:solidFill>
              <a:srgbClr val="E3E8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5"/>
          <p:cNvSpPr/>
          <p:nvPr/>
        </p:nvSpPr>
        <p:spPr>
          <a:xfrm>
            <a:off x="3524771" y="2294181"/>
            <a:ext cx="384000" cy="384000"/>
          </a:xfrm>
          <a:prstGeom prst="ellipse">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5"/>
          <p:cNvSpPr/>
          <p:nvPr/>
        </p:nvSpPr>
        <p:spPr>
          <a:xfrm>
            <a:off x="3524771" y="2294181"/>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2</a:t>
            </a:r>
            <a:endParaRPr sz="1500">
              <a:solidFill>
                <a:schemeClr val="dk1"/>
              </a:solidFill>
              <a:latin typeface="Calibri"/>
              <a:ea typeface="Calibri"/>
              <a:cs typeface="Calibri"/>
              <a:sym typeface="Calibri"/>
            </a:endParaRPr>
          </a:p>
        </p:txBody>
      </p:sp>
      <p:sp>
        <p:nvSpPr>
          <p:cNvPr id="140" name="Google Shape;140;p5"/>
          <p:cNvSpPr/>
          <p:nvPr/>
        </p:nvSpPr>
        <p:spPr>
          <a:xfrm>
            <a:off x="3621024" y="2812021"/>
            <a:ext cx="2148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libri"/>
              <a:buNone/>
            </a:pPr>
            <a:r>
              <a:rPr b="1" lang="en-US" sz="1800">
                <a:solidFill>
                  <a:srgbClr val="1E2761"/>
                </a:solidFill>
                <a:latin typeface="Calibri"/>
                <a:ea typeface="Calibri"/>
                <a:cs typeface="Calibri"/>
                <a:sym typeface="Calibri"/>
              </a:rPr>
              <a:t>Learn the distribution</a:t>
            </a:r>
            <a:endParaRPr sz="1800">
              <a:solidFill>
                <a:schemeClr val="dk1"/>
              </a:solidFill>
              <a:latin typeface="Calibri"/>
              <a:ea typeface="Calibri"/>
              <a:cs typeface="Calibri"/>
              <a:sym typeface="Calibri"/>
            </a:endParaRPr>
          </a:p>
        </p:txBody>
      </p:sp>
      <p:sp>
        <p:nvSpPr>
          <p:cNvPr id="141" name="Google Shape;141;p5"/>
          <p:cNvSpPr/>
          <p:nvPr/>
        </p:nvSpPr>
        <p:spPr>
          <a:xfrm>
            <a:off x="3621019" y="3224473"/>
            <a:ext cx="2148900" cy="118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192E"/>
              </a:buClr>
              <a:buSzPts val="1250"/>
              <a:buFont typeface="Calibri"/>
              <a:buNone/>
            </a:pPr>
            <a:r>
              <a:rPr lang="en-US" sz="1450">
                <a:solidFill>
                  <a:srgbClr val="16192E"/>
                </a:solidFill>
                <a:latin typeface="Calibri"/>
                <a:ea typeface="Calibri"/>
                <a:cs typeface="Calibri"/>
                <a:sym typeface="Calibri"/>
              </a:rPr>
              <a:t>Fit velocities conditional on position, so the selection factor cancels.</a:t>
            </a:r>
            <a:endParaRPr sz="1450">
              <a:solidFill>
                <a:schemeClr val="dk1"/>
              </a:solidFill>
              <a:latin typeface="Calibri"/>
              <a:ea typeface="Calibri"/>
              <a:cs typeface="Calibri"/>
              <a:sym typeface="Calibri"/>
            </a:endParaRPr>
          </a:p>
        </p:txBody>
      </p:sp>
      <p:sp>
        <p:nvSpPr>
          <p:cNvPr id="142" name="Google Shape;142;p5"/>
          <p:cNvSpPr/>
          <p:nvPr/>
        </p:nvSpPr>
        <p:spPr>
          <a:xfrm>
            <a:off x="6163056" y="2194560"/>
            <a:ext cx="2578608" cy="2331720"/>
          </a:xfrm>
          <a:prstGeom prst="roundRect">
            <a:avLst>
              <a:gd fmla="val 2353" name="adj"/>
            </a:avLst>
          </a:prstGeom>
          <a:solidFill>
            <a:srgbClr val="F4F6FB"/>
          </a:solidFill>
          <a:ln cap="flat" cmpd="sng" w="12700">
            <a:solidFill>
              <a:srgbClr val="E3E8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5"/>
          <p:cNvSpPr/>
          <p:nvPr/>
        </p:nvSpPr>
        <p:spPr>
          <a:xfrm>
            <a:off x="6286259" y="2294181"/>
            <a:ext cx="384000" cy="384000"/>
          </a:xfrm>
          <a:prstGeom prst="ellipse">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5"/>
          <p:cNvSpPr/>
          <p:nvPr/>
        </p:nvSpPr>
        <p:spPr>
          <a:xfrm>
            <a:off x="6286259" y="2294181"/>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3</a:t>
            </a:r>
            <a:endParaRPr sz="1500">
              <a:solidFill>
                <a:schemeClr val="dk1"/>
              </a:solidFill>
              <a:latin typeface="Calibri"/>
              <a:ea typeface="Calibri"/>
              <a:cs typeface="Calibri"/>
              <a:sym typeface="Calibri"/>
            </a:endParaRPr>
          </a:p>
        </p:txBody>
      </p:sp>
      <p:sp>
        <p:nvSpPr>
          <p:cNvPr id="145" name="Google Shape;145;p5"/>
          <p:cNvSpPr/>
          <p:nvPr/>
        </p:nvSpPr>
        <p:spPr>
          <a:xfrm>
            <a:off x="6382512" y="2812021"/>
            <a:ext cx="2148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libri"/>
              <a:buNone/>
            </a:pPr>
            <a:r>
              <a:rPr b="1" lang="en-US" sz="1800">
                <a:solidFill>
                  <a:srgbClr val="1E2761"/>
                </a:solidFill>
                <a:latin typeface="Calibri"/>
                <a:ea typeface="Calibri"/>
                <a:cs typeface="Calibri"/>
                <a:sym typeface="Calibri"/>
              </a:rPr>
              <a:t>Measure acceleration</a:t>
            </a:r>
            <a:endParaRPr sz="1800">
              <a:solidFill>
                <a:schemeClr val="dk1"/>
              </a:solidFill>
              <a:latin typeface="Calibri"/>
              <a:ea typeface="Calibri"/>
              <a:cs typeface="Calibri"/>
              <a:sym typeface="Calibri"/>
            </a:endParaRPr>
          </a:p>
        </p:txBody>
      </p:sp>
      <p:sp>
        <p:nvSpPr>
          <p:cNvPr id="146" name="Google Shape;146;p5"/>
          <p:cNvSpPr/>
          <p:nvPr/>
        </p:nvSpPr>
        <p:spPr>
          <a:xfrm>
            <a:off x="8924544" y="2194560"/>
            <a:ext cx="2578608" cy="2331720"/>
          </a:xfrm>
          <a:prstGeom prst="roundRect">
            <a:avLst>
              <a:gd fmla="val 2353" name="adj"/>
            </a:avLst>
          </a:prstGeom>
          <a:solidFill>
            <a:srgbClr val="F4F6FB"/>
          </a:solidFill>
          <a:ln cap="flat" cmpd="sng" w="12700">
            <a:solidFill>
              <a:srgbClr val="E3E8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5"/>
          <p:cNvSpPr/>
          <p:nvPr/>
        </p:nvSpPr>
        <p:spPr>
          <a:xfrm>
            <a:off x="9047747" y="2294181"/>
            <a:ext cx="384000" cy="384000"/>
          </a:xfrm>
          <a:prstGeom prst="ellipse">
            <a:avLst/>
          </a:prstGeom>
          <a:solidFill>
            <a:srgbClr val="1E276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5"/>
          <p:cNvSpPr/>
          <p:nvPr/>
        </p:nvSpPr>
        <p:spPr>
          <a:xfrm>
            <a:off x="9047747" y="2294181"/>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4</a:t>
            </a:r>
            <a:endParaRPr sz="1500">
              <a:solidFill>
                <a:schemeClr val="dk1"/>
              </a:solidFill>
              <a:latin typeface="Calibri"/>
              <a:ea typeface="Calibri"/>
              <a:cs typeface="Calibri"/>
              <a:sym typeface="Calibri"/>
            </a:endParaRPr>
          </a:p>
        </p:txBody>
      </p:sp>
      <p:sp>
        <p:nvSpPr>
          <p:cNvPr id="149" name="Google Shape;149;p5"/>
          <p:cNvSpPr/>
          <p:nvPr/>
        </p:nvSpPr>
        <p:spPr>
          <a:xfrm>
            <a:off x="9144000" y="2812021"/>
            <a:ext cx="2148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libri"/>
              <a:buNone/>
            </a:pPr>
            <a:r>
              <a:rPr b="1" lang="en-US" sz="1800">
                <a:solidFill>
                  <a:srgbClr val="1E2761"/>
                </a:solidFill>
                <a:latin typeface="Calibri"/>
                <a:ea typeface="Calibri"/>
                <a:cs typeface="Calibri"/>
                <a:sym typeface="Calibri"/>
              </a:rPr>
              <a:t>Distill closed forms</a:t>
            </a:r>
            <a:endParaRPr sz="1800">
              <a:solidFill>
                <a:schemeClr val="dk1"/>
              </a:solidFill>
              <a:latin typeface="Calibri"/>
              <a:ea typeface="Calibri"/>
              <a:cs typeface="Calibri"/>
              <a:sym typeface="Calibri"/>
            </a:endParaRPr>
          </a:p>
        </p:txBody>
      </p:sp>
      <p:sp>
        <p:nvSpPr>
          <p:cNvPr id="150" name="Google Shape;150;p5"/>
          <p:cNvSpPr/>
          <p:nvPr/>
        </p:nvSpPr>
        <p:spPr>
          <a:xfrm>
            <a:off x="9144006" y="3224473"/>
            <a:ext cx="2148900" cy="118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192E"/>
              </a:buClr>
              <a:buSzPts val="1250"/>
              <a:buFont typeface="Calibri"/>
              <a:buNone/>
            </a:pPr>
            <a:r>
              <a:rPr lang="en-US" sz="1450">
                <a:solidFill>
                  <a:srgbClr val="16192E"/>
                </a:solidFill>
                <a:latin typeface="Calibri"/>
                <a:ea typeface="Calibri"/>
                <a:cs typeface="Calibri"/>
                <a:sym typeface="Calibri"/>
              </a:rPr>
              <a:t>Use symbolic regression with positivity and curl-free structure built in.</a:t>
            </a:r>
            <a:endParaRPr sz="1450">
              <a:solidFill>
                <a:schemeClr val="dk1"/>
              </a:solidFill>
              <a:latin typeface="Calibri"/>
              <a:ea typeface="Calibri"/>
              <a:cs typeface="Calibri"/>
              <a:sym typeface="Calibri"/>
            </a:endParaRPr>
          </a:p>
        </p:txBody>
      </p:sp>
      <p:sp>
        <p:nvSpPr>
          <p:cNvPr id="151" name="Google Shape;151;p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152" name="Google Shape;152;p5" title="The_colour_of_the_sky_from_Gaia_s_Early_Data_Release_3.png"/>
          <p:cNvPicPr preferRelativeResize="0"/>
          <p:nvPr/>
        </p:nvPicPr>
        <p:blipFill>
          <a:blip r:embed="rId3">
            <a:alphaModFix/>
          </a:blip>
          <a:stretch>
            <a:fillRect/>
          </a:stretch>
        </p:blipFill>
        <p:spPr>
          <a:xfrm>
            <a:off x="3767298" y="4001525"/>
            <a:ext cx="4663500" cy="2331600"/>
          </a:xfrm>
          <a:prstGeom prst="ellipse">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f695b6666d_3_4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159" name="Google Shape;159;g3f695b6666d_3_45"/>
          <p:cNvPicPr preferRelativeResize="0"/>
          <p:nvPr/>
        </p:nvPicPr>
        <p:blipFill rotWithShape="1">
          <a:blip r:embed="rId3">
            <a:alphaModFix/>
          </a:blip>
          <a:srcRect b="0" l="0" r="0" t="21340"/>
          <a:stretch/>
        </p:blipFill>
        <p:spPr>
          <a:xfrm>
            <a:off x="602850" y="359427"/>
            <a:ext cx="11104249" cy="2720325"/>
          </a:xfrm>
          <a:prstGeom prst="rect">
            <a:avLst/>
          </a:prstGeom>
          <a:noFill/>
          <a:ln>
            <a:noFill/>
          </a:ln>
        </p:spPr>
      </p:pic>
      <p:pic>
        <p:nvPicPr>
          <p:cNvPr id="160" name="Google Shape;160;g3f695b6666d_3_45"/>
          <p:cNvPicPr preferRelativeResize="0"/>
          <p:nvPr/>
        </p:nvPicPr>
        <p:blipFill>
          <a:blip r:embed="rId4">
            <a:alphaModFix/>
          </a:blip>
          <a:stretch>
            <a:fillRect/>
          </a:stretch>
        </p:blipFill>
        <p:spPr>
          <a:xfrm>
            <a:off x="901700" y="3079750"/>
            <a:ext cx="8499251" cy="3589025"/>
          </a:xfrm>
          <a:prstGeom prst="rect">
            <a:avLst/>
          </a:prstGeom>
          <a:noFill/>
          <a:ln>
            <a:noFill/>
          </a:ln>
        </p:spPr>
      </p:pic>
      <p:sp>
        <p:nvSpPr>
          <p:cNvPr id="161" name="Google Shape;161;g3f695b6666d_3_45"/>
          <p:cNvSpPr/>
          <p:nvPr/>
        </p:nvSpPr>
        <p:spPr>
          <a:xfrm>
            <a:off x="2079775" y="2317750"/>
            <a:ext cx="6842100" cy="304800"/>
          </a:xfrm>
          <a:prstGeom prst="rect">
            <a:avLst/>
          </a:prstGeom>
          <a:solidFill>
            <a:srgbClr val="FFFF00">
              <a:alpha val="18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g3f695b6666d_3_45"/>
          <p:cNvSpPr/>
          <p:nvPr/>
        </p:nvSpPr>
        <p:spPr>
          <a:xfrm>
            <a:off x="2079775" y="6142625"/>
            <a:ext cx="6994500" cy="304800"/>
          </a:xfrm>
          <a:prstGeom prst="rect">
            <a:avLst/>
          </a:prstGeom>
          <a:solidFill>
            <a:srgbClr val="FFFF00">
              <a:alpha val="183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67" name="Shape 167"/>
        <p:cNvGrpSpPr/>
        <p:nvPr/>
      </p:nvGrpSpPr>
      <p:grpSpPr>
        <a:xfrm>
          <a:off x="0" y="0"/>
          <a:ext cx="0" cy="0"/>
          <a:chOff x="0" y="0"/>
          <a:chExt cx="0" cy="0"/>
        </a:xfrm>
      </p:grpSpPr>
      <p:sp>
        <p:nvSpPr>
          <p:cNvPr id="168" name="Google Shape;168;p6"/>
          <p:cNvSpPr/>
          <p:nvPr/>
        </p:nvSpPr>
        <p:spPr>
          <a:xfrm>
            <a:off x="640080" y="384048"/>
            <a:ext cx="1088136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800"/>
              <a:buFont typeface="Cambria"/>
              <a:buNone/>
            </a:pPr>
            <a:r>
              <a:rPr b="1" lang="en-US" sz="3800">
                <a:solidFill>
                  <a:srgbClr val="FFFFFF"/>
                </a:solidFill>
                <a:latin typeface="Cambria"/>
                <a:ea typeface="Cambria"/>
                <a:cs typeface="Cambria"/>
                <a:sym typeface="Cambria"/>
              </a:rPr>
              <a:t>Two compact equations</a:t>
            </a:r>
            <a:endParaRPr sz="3800">
              <a:solidFill>
                <a:schemeClr val="dk1"/>
              </a:solidFill>
              <a:latin typeface="Calibri"/>
              <a:ea typeface="Calibri"/>
              <a:cs typeface="Calibri"/>
              <a:sym typeface="Calibri"/>
            </a:endParaRPr>
          </a:p>
        </p:txBody>
      </p:sp>
      <p:sp>
        <p:nvSpPr>
          <p:cNvPr id="169" name="Google Shape;169;p6"/>
          <p:cNvSpPr/>
          <p:nvPr/>
        </p:nvSpPr>
        <p:spPr>
          <a:xfrm>
            <a:off x="640080" y="1371600"/>
            <a:ext cx="10881360" cy="1371600"/>
          </a:xfrm>
          <a:prstGeom prst="roundRect">
            <a:avLst>
              <a:gd fmla="val 4000" name="adj"/>
            </a:avLst>
          </a:prstGeom>
          <a:solidFill>
            <a:srgbClr val="2A35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6"/>
          <p:cNvSpPr/>
          <p:nvPr/>
        </p:nvSpPr>
        <p:spPr>
          <a:xfrm>
            <a:off x="914400" y="2057400"/>
            <a:ext cx="10332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400"/>
              <a:buFont typeface="Calibri"/>
              <a:buNone/>
            </a:pPr>
            <a:r>
              <a:rPr lang="en-US" sz="1400">
                <a:solidFill>
                  <a:srgbClr val="CADCFC"/>
                </a:solidFill>
                <a:latin typeface="Calibri"/>
                <a:ea typeface="Calibri"/>
                <a:cs typeface="Calibri"/>
                <a:sym typeface="Calibri"/>
              </a:rPr>
              <a:t>Units: (100 km/s)², with R and z numerical in kpc. 11 nodes, 2 fitted constants.</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400"/>
              <a:buFont typeface="Calibri"/>
              <a:buNone/>
            </a:pPr>
            <a:r>
              <a:rPr lang="en-US" sz="1400">
                <a:solidFill>
                  <a:srgbClr val="CADCFC"/>
                </a:solidFill>
                <a:latin typeface="Calibri"/>
                <a:ea typeface="Calibri"/>
                <a:cs typeface="Calibri"/>
                <a:sym typeface="Calibri"/>
              </a:rPr>
              <a:t>Because R sits inside the logarithm, the potential is non-separable.</a:t>
            </a:r>
            <a:endParaRPr sz="1400">
              <a:solidFill>
                <a:schemeClr val="dk1"/>
              </a:solidFill>
              <a:latin typeface="Calibri"/>
              <a:ea typeface="Calibri"/>
              <a:cs typeface="Calibri"/>
              <a:sym typeface="Calibri"/>
            </a:endParaRPr>
          </a:p>
        </p:txBody>
      </p:sp>
      <p:sp>
        <p:nvSpPr>
          <p:cNvPr id="171" name="Google Shape;171;p6"/>
          <p:cNvSpPr/>
          <p:nvPr/>
        </p:nvSpPr>
        <p:spPr>
          <a:xfrm>
            <a:off x="640080" y="2880360"/>
            <a:ext cx="10881360" cy="2057400"/>
          </a:xfrm>
          <a:prstGeom prst="roundRect">
            <a:avLst>
              <a:gd fmla="val 2667" name="adj"/>
            </a:avLst>
          </a:prstGeom>
          <a:solidFill>
            <a:srgbClr val="2A35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6"/>
          <p:cNvSpPr/>
          <p:nvPr/>
        </p:nvSpPr>
        <p:spPr>
          <a:xfrm>
            <a:off x="914400" y="4248150"/>
            <a:ext cx="103326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50"/>
              <a:buFont typeface="Calibri"/>
              <a:buNone/>
            </a:pPr>
            <a:r>
              <a:rPr lang="en-US" sz="1350">
                <a:solidFill>
                  <a:srgbClr val="CADCFC"/>
                </a:solidFill>
                <a:latin typeface="Calibri"/>
                <a:ea typeface="Calibri"/>
                <a:cs typeface="Calibri"/>
                <a:sym typeface="Calibri"/>
              </a:rPr>
              <a:t>Velocities are numerical in units of 100 km/s. 44 nodes, 5 fitted constants. It matches σ_z (18.4 versus 18.2 km/s) and lets rotation set the disc thickness.</a:t>
            </a:r>
            <a:endParaRPr sz="1350">
              <a:solidFill>
                <a:schemeClr val="dk1"/>
              </a:solidFill>
              <a:latin typeface="Calibri"/>
              <a:ea typeface="Calibri"/>
              <a:cs typeface="Calibri"/>
              <a:sym typeface="Calibri"/>
            </a:endParaRPr>
          </a:p>
        </p:txBody>
      </p:sp>
      <p:sp>
        <p:nvSpPr>
          <p:cNvPr id="173" name="Google Shape;173;p6"/>
          <p:cNvSpPr/>
          <p:nvPr/>
        </p:nvSpPr>
        <p:spPr>
          <a:xfrm>
            <a:off x="640080" y="5166360"/>
            <a:ext cx="108813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D9"/>
              </a:buClr>
              <a:buSzPts val="1350"/>
              <a:buFont typeface="Calibri"/>
              <a:buNone/>
            </a:pPr>
            <a:r>
              <a:rPr i="1" lang="en-US" sz="1350">
                <a:solidFill>
                  <a:srgbClr val="8FA3D9"/>
                </a:solidFill>
                <a:latin typeface="Calibri"/>
                <a:ea typeface="Calibri"/>
                <a:cs typeface="Calibri"/>
                <a:sym typeface="Calibri"/>
              </a:rPr>
              <a:t>Interpret locally: positivity and Poisson density were enforced in the fitted box, but global normalizability and rotational asymmetry still need testing.</a:t>
            </a:r>
            <a:endParaRPr sz="1350">
              <a:solidFill>
                <a:schemeClr val="dk1"/>
              </a:solidFill>
              <a:latin typeface="Calibri"/>
              <a:ea typeface="Calibri"/>
              <a:cs typeface="Calibri"/>
              <a:sym typeface="Calibri"/>
            </a:endParaRPr>
          </a:p>
        </p:txBody>
      </p:sp>
      <p:sp>
        <p:nvSpPr>
          <p:cNvPr id="174" name="Google Shape;174;p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rgbClr val="D9D9D9"/>
                </a:solidFill>
              </a:rPr>
              <a:t>‹#›</a:t>
            </a:fld>
            <a:endParaRPr>
              <a:solidFill>
                <a:srgbClr val="D9D9D9"/>
              </a:solidFill>
            </a:endParaRPr>
          </a:p>
        </p:txBody>
      </p:sp>
      <p:pic>
        <p:nvPicPr>
          <p:cNvPr id="175" name="Google Shape;175;p6" title="equations_white_transparent.png"/>
          <p:cNvPicPr preferRelativeResize="0"/>
          <p:nvPr/>
        </p:nvPicPr>
        <p:blipFill rotWithShape="1">
          <a:blip r:embed="rId3">
            <a:alphaModFix/>
          </a:blip>
          <a:srcRect b="69432" l="0" r="0" t="25127"/>
          <a:stretch/>
        </p:blipFill>
        <p:spPr>
          <a:xfrm>
            <a:off x="-736300" y="1162826"/>
            <a:ext cx="8385976" cy="1005824"/>
          </a:xfrm>
          <a:prstGeom prst="rect">
            <a:avLst/>
          </a:prstGeom>
          <a:noFill/>
          <a:ln>
            <a:noFill/>
          </a:ln>
        </p:spPr>
      </p:pic>
      <p:pic>
        <p:nvPicPr>
          <p:cNvPr id="176" name="Google Shape;176;p6" title="equations_white_transparent.png"/>
          <p:cNvPicPr preferRelativeResize="0"/>
          <p:nvPr/>
        </p:nvPicPr>
        <p:blipFill rotWithShape="1">
          <a:blip r:embed="rId3">
            <a:alphaModFix/>
          </a:blip>
          <a:srcRect b="60231" l="-2734" r="-1607" t="30280"/>
          <a:stretch/>
        </p:blipFill>
        <p:spPr>
          <a:xfrm>
            <a:off x="762000" y="2697475"/>
            <a:ext cx="8159751" cy="163572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81" name="Shape 181"/>
        <p:cNvGrpSpPr/>
        <p:nvPr/>
      </p:nvGrpSpPr>
      <p:grpSpPr>
        <a:xfrm>
          <a:off x="0" y="0"/>
          <a:ext cx="0" cy="0"/>
          <a:chOff x="0" y="0"/>
          <a:chExt cx="0" cy="0"/>
        </a:xfrm>
      </p:grpSpPr>
      <p:sp>
        <p:nvSpPr>
          <p:cNvPr id="182" name="Google Shape;182;g3f695b6666d_4_9"/>
          <p:cNvSpPr/>
          <p:nvPr/>
        </p:nvSpPr>
        <p:spPr>
          <a:xfrm>
            <a:off x="640080" y="384048"/>
            <a:ext cx="108813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800"/>
              <a:buFont typeface="Cambria"/>
              <a:buNone/>
            </a:pPr>
            <a:r>
              <a:rPr b="1" lang="en-US" sz="3800">
                <a:solidFill>
                  <a:srgbClr val="FFFFFF"/>
                </a:solidFill>
                <a:latin typeface="Cambria"/>
                <a:ea typeface="Cambria"/>
                <a:cs typeface="Cambria"/>
                <a:sym typeface="Cambria"/>
              </a:rPr>
              <a:t>Putting in the dimensions</a:t>
            </a:r>
            <a:endParaRPr sz="3800">
              <a:solidFill>
                <a:schemeClr val="dk1"/>
              </a:solidFill>
              <a:latin typeface="Calibri"/>
              <a:ea typeface="Calibri"/>
              <a:cs typeface="Calibri"/>
              <a:sym typeface="Calibri"/>
            </a:endParaRPr>
          </a:p>
        </p:txBody>
      </p:sp>
      <p:sp>
        <p:nvSpPr>
          <p:cNvPr id="183" name="Google Shape;183;g3f695b6666d_4_9"/>
          <p:cNvSpPr/>
          <p:nvPr/>
        </p:nvSpPr>
        <p:spPr>
          <a:xfrm>
            <a:off x="640080" y="1371600"/>
            <a:ext cx="10881300" cy="1371600"/>
          </a:xfrm>
          <a:prstGeom prst="roundRect">
            <a:avLst>
              <a:gd fmla="val 4000" name="adj"/>
            </a:avLst>
          </a:prstGeom>
          <a:solidFill>
            <a:srgbClr val="2A35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g3f695b6666d_4_9"/>
          <p:cNvSpPr/>
          <p:nvPr/>
        </p:nvSpPr>
        <p:spPr>
          <a:xfrm>
            <a:off x="640080" y="2880360"/>
            <a:ext cx="10881300" cy="2057400"/>
          </a:xfrm>
          <a:prstGeom prst="roundRect">
            <a:avLst>
              <a:gd fmla="val 2667" name="adj"/>
            </a:avLst>
          </a:prstGeom>
          <a:solidFill>
            <a:srgbClr val="2A35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g3f695b6666d_4_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rgbClr val="D9D9D9"/>
                </a:solidFill>
              </a:rPr>
              <a:t>‹#›</a:t>
            </a:fld>
            <a:endParaRPr>
              <a:solidFill>
                <a:srgbClr val="D9D9D9"/>
              </a:solidFill>
            </a:endParaRPr>
          </a:p>
        </p:txBody>
      </p:sp>
      <p:pic>
        <p:nvPicPr>
          <p:cNvPr id="186" name="Google Shape;186;g3f695b6666d_4_9" title="Screenshot 2026-08-07 at 1.56.38 PM.png"/>
          <p:cNvPicPr preferRelativeResize="0"/>
          <p:nvPr/>
        </p:nvPicPr>
        <p:blipFill>
          <a:blip r:embed="rId3">
            <a:alphaModFix/>
          </a:blip>
          <a:stretch>
            <a:fillRect/>
          </a:stretch>
        </p:blipFill>
        <p:spPr>
          <a:xfrm>
            <a:off x="1059650" y="1371600"/>
            <a:ext cx="4268049" cy="850209"/>
          </a:xfrm>
          <a:prstGeom prst="rect">
            <a:avLst/>
          </a:prstGeom>
          <a:noFill/>
          <a:ln>
            <a:noFill/>
          </a:ln>
        </p:spPr>
      </p:pic>
      <p:pic>
        <p:nvPicPr>
          <p:cNvPr id="187" name="Google Shape;187;g3f695b6666d_4_9" title="Screenshot 2026-08-07 at 1.56.56 PM.png"/>
          <p:cNvPicPr preferRelativeResize="0"/>
          <p:nvPr/>
        </p:nvPicPr>
        <p:blipFill>
          <a:blip r:embed="rId4">
            <a:alphaModFix/>
          </a:blip>
          <a:stretch>
            <a:fillRect/>
          </a:stretch>
        </p:blipFill>
        <p:spPr>
          <a:xfrm>
            <a:off x="1059650" y="2880350"/>
            <a:ext cx="6847851" cy="2243101"/>
          </a:xfrm>
          <a:prstGeom prst="rect">
            <a:avLst/>
          </a:prstGeom>
          <a:noFill/>
          <a:ln>
            <a:noFill/>
          </a:ln>
        </p:spPr>
      </p:pic>
      <p:pic>
        <p:nvPicPr>
          <p:cNvPr id="188" name="Google Shape;188;g3f695b6666d_4_9" title="Screenshot 2026-08-07 at 2.09.54 PM.png"/>
          <p:cNvPicPr preferRelativeResize="0"/>
          <p:nvPr/>
        </p:nvPicPr>
        <p:blipFill>
          <a:blip r:embed="rId5">
            <a:alphaModFix/>
          </a:blip>
          <a:stretch>
            <a:fillRect/>
          </a:stretch>
        </p:blipFill>
        <p:spPr>
          <a:xfrm>
            <a:off x="8022849" y="568460"/>
            <a:ext cx="4117899" cy="4010890"/>
          </a:xfrm>
          <a:prstGeom prst="rect">
            <a:avLst/>
          </a:prstGeom>
          <a:noFill/>
          <a:ln>
            <a:noFill/>
          </a:ln>
        </p:spPr>
      </p:pic>
      <p:sp>
        <p:nvSpPr>
          <p:cNvPr id="189" name="Google Shape;189;g3f695b6666d_4_9"/>
          <p:cNvSpPr/>
          <p:nvPr/>
        </p:nvSpPr>
        <p:spPr>
          <a:xfrm>
            <a:off x="10931125" y="814625"/>
            <a:ext cx="1080000" cy="346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7"/>
          <p:cNvSpPr/>
          <p:nvPr/>
        </p:nvSpPr>
        <p:spPr>
          <a:xfrm>
            <a:off x="640080" y="384048"/>
            <a:ext cx="1088136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192E"/>
              </a:buClr>
              <a:buSzPts val="3800"/>
              <a:buFont typeface="Cambria"/>
              <a:buNone/>
            </a:pPr>
            <a:r>
              <a:rPr b="1" lang="en-US" sz="3800">
                <a:solidFill>
                  <a:srgbClr val="16192E"/>
                </a:solidFill>
                <a:latin typeface="Cambria"/>
                <a:ea typeface="Cambria"/>
                <a:cs typeface="Cambria"/>
                <a:sym typeface="Cambria"/>
              </a:rPr>
              <a:t>Useful predictions, with visible limits</a:t>
            </a:r>
            <a:endParaRPr sz="3800">
              <a:solidFill>
                <a:schemeClr val="dk1"/>
              </a:solidFill>
              <a:latin typeface="Calibri"/>
              <a:ea typeface="Calibri"/>
              <a:cs typeface="Calibri"/>
              <a:sym typeface="Calibri"/>
            </a:endParaRPr>
          </a:p>
        </p:txBody>
      </p:sp>
      <p:sp>
        <p:nvSpPr>
          <p:cNvPr id="196" name="Google Shape;196;p7"/>
          <p:cNvSpPr/>
          <p:nvPr/>
        </p:nvSpPr>
        <p:spPr>
          <a:xfrm>
            <a:off x="640080" y="1298448"/>
            <a:ext cx="3429000" cy="1481328"/>
          </a:xfrm>
          <a:prstGeom prst="roundRect">
            <a:avLst>
              <a:gd fmla="val 3704" name="adj"/>
            </a:avLst>
          </a:prstGeom>
          <a:solidFill>
            <a:srgbClr val="EEF3FF"/>
          </a:solidFill>
          <a:ln cap="flat" cmpd="sng" w="12700">
            <a:solidFill>
              <a:srgbClr val="E3E8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7"/>
          <p:cNvSpPr/>
          <p:nvPr/>
        </p:nvSpPr>
        <p:spPr>
          <a:xfrm>
            <a:off x="914400" y="1371600"/>
            <a:ext cx="288036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400"/>
              <a:buFont typeface="Cambria"/>
              <a:buNone/>
            </a:pPr>
            <a:r>
              <a:rPr b="1" lang="en-US" sz="3400">
                <a:solidFill>
                  <a:srgbClr val="1E2761"/>
                </a:solidFill>
                <a:latin typeface="Cambria"/>
                <a:ea typeface="Cambria"/>
                <a:cs typeface="Cambria"/>
                <a:sym typeface="Cambria"/>
              </a:rPr>
              <a:t>0.204</a:t>
            </a:r>
            <a:endParaRPr sz="3400">
              <a:solidFill>
                <a:schemeClr val="dk1"/>
              </a:solidFill>
              <a:latin typeface="Calibri"/>
              <a:ea typeface="Calibri"/>
              <a:cs typeface="Calibri"/>
              <a:sym typeface="Calibri"/>
            </a:endParaRPr>
          </a:p>
        </p:txBody>
      </p:sp>
      <p:sp>
        <p:nvSpPr>
          <p:cNvPr id="198" name="Google Shape;198;p7"/>
          <p:cNvSpPr/>
          <p:nvPr/>
        </p:nvSpPr>
        <p:spPr>
          <a:xfrm>
            <a:off x="914400" y="1975104"/>
            <a:ext cx="28803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192E"/>
              </a:buClr>
              <a:buSzPts val="1200"/>
              <a:buFont typeface="Calibri"/>
              <a:buNone/>
            </a:pPr>
            <a:r>
              <a:rPr lang="en-US">
                <a:solidFill>
                  <a:srgbClr val="16192E"/>
                </a:solidFill>
                <a:latin typeface="Calibri"/>
                <a:ea typeface="Calibri"/>
                <a:cs typeface="Calibri"/>
                <a:sym typeface="Calibri"/>
              </a:rPr>
              <a:t>relative CBE residual—</a:t>
            </a:r>
            <a:r>
              <a:rPr b="1" lang="en-US">
                <a:solidFill>
                  <a:srgbClr val="16192E"/>
                </a:solidFill>
                <a:latin typeface="Calibri"/>
                <a:ea typeface="Calibri"/>
                <a:cs typeface="Calibri"/>
                <a:sym typeface="Calibri"/>
              </a:rPr>
              <a:t>95.8</a:t>
            </a:r>
            <a:r>
              <a:rPr lang="en-US">
                <a:solidFill>
                  <a:srgbClr val="16192E"/>
                </a:solidFill>
                <a:latin typeface="Calibri"/>
                <a:ea typeface="Calibri"/>
                <a:cs typeface="Calibri"/>
                <a:sym typeface="Calibri"/>
              </a:rPr>
              <a:t>% of equation variance explained</a:t>
            </a:r>
            <a:endParaRPr>
              <a:solidFill>
                <a:schemeClr val="dk1"/>
              </a:solidFill>
              <a:latin typeface="Calibri"/>
              <a:ea typeface="Calibri"/>
              <a:cs typeface="Calibri"/>
              <a:sym typeface="Calibri"/>
            </a:endParaRPr>
          </a:p>
        </p:txBody>
      </p:sp>
      <p:sp>
        <p:nvSpPr>
          <p:cNvPr id="199" name="Google Shape;199;p7"/>
          <p:cNvSpPr/>
          <p:nvPr/>
        </p:nvSpPr>
        <p:spPr>
          <a:xfrm>
            <a:off x="4370832" y="1298448"/>
            <a:ext cx="3429000" cy="1481328"/>
          </a:xfrm>
          <a:prstGeom prst="roundRect">
            <a:avLst>
              <a:gd fmla="val 3704" name="adj"/>
            </a:avLst>
          </a:prstGeom>
          <a:solidFill>
            <a:srgbClr val="EEF3FF"/>
          </a:solidFill>
          <a:ln cap="flat" cmpd="sng" w="12700">
            <a:solidFill>
              <a:srgbClr val="E3E8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7"/>
          <p:cNvSpPr/>
          <p:nvPr/>
        </p:nvSpPr>
        <p:spPr>
          <a:xfrm>
            <a:off x="4645152" y="1371600"/>
            <a:ext cx="288036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400"/>
              <a:buFont typeface="Cambria"/>
              <a:buNone/>
            </a:pPr>
            <a:r>
              <a:rPr b="1" lang="en-US" sz="3400">
                <a:solidFill>
                  <a:srgbClr val="1E2761"/>
                </a:solidFill>
                <a:latin typeface="Cambria"/>
                <a:ea typeface="Cambria"/>
                <a:cs typeface="Cambria"/>
                <a:sym typeface="Cambria"/>
              </a:rPr>
              <a:t>1.88</a:t>
            </a:r>
            <a:endParaRPr sz="3400">
              <a:solidFill>
                <a:schemeClr val="dk1"/>
              </a:solidFill>
              <a:latin typeface="Calibri"/>
              <a:ea typeface="Calibri"/>
              <a:cs typeface="Calibri"/>
              <a:sym typeface="Calibri"/>
            </a:endParaRPr>
          </a:p>
        </p:txBody>
      </p:sp>
      <p:sp>
        <p:nvSpPr>
          <p:cNvPr id="201" name="Google Shape;201;p7"/>
          <p:cNvSpPr/>
          <p:nvPr/>
        </p:nvSpPr>
        <p:spPr>
          <a:xfrm>
            <a:off x="4645152" y="1975104"/>
            <a:ext cx="28803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192E"/>
              </a:buClr>
              <a:buSzPts val="1200"/>
              <a:buFont typeface="Calibri"/>
              <a:buNone/>
            </a:pPr>
            <a:r>
              <a:rPr lang="en-US">
                <a:solidFill>
                  <a:srgbClr val="16192E"/>
                </a:solidFill>
                <a:latin typeface="Calibri"/>
                <a:ea typeface="Calibri"/>
                <a:cs typeface="Calibri"/>
                <a:sym typeface="Calibri"/>
              </a:rPr>
              <a:t>radial/vertical dispersion ratio; </a:t>
            </a:r>
            <a:endParaRPr>
              <a:solidFill>
                <a:srgbClr val="16192E"/>
              </a:solidFill>
              <a:latin typeface="Calibri"/>
              <a:ea typeface="Calibri"/>
              <a:cs typeface="Calibri"/>
              <a:sym typeface="Calibri"/>
            </a:endParaRPr>
          </a:p>
          <a:p>
            <a:pPr indent="0" lvl="0" marL="0" marR="0" rtl="0" algn="l">
              <a:spcBef>
                <a:spcPts val="0"/>
              </a:spcBef>
              <a:spcAft>
                <a:spcPts val="0"/>
              </a:spcAft>
              <a:buClr>
                <a:srgbClr val="16192E"/>
              </a:buClr>
              <a:buSzPts val="1200"/>
              <a:buFont typeface="Calibri"/>
              <a:buNone/>
            </a:pPr>
            <a:r>
              <a:rPr lang="en-US">
                <a:solidFill>
                  <a:srgbClr val="16192E"/>
                </a:solidFill>
                <a:latin typeface="Calibri"/>
                <a:ea typeface="Calibri"/>
                <a:cs typeface="Calibri"/>
                <a:sym typeface="Calibri"/>
              </a:rPr>
              <a:t>measured value </a:t>
            </a:r>
            <a:r>
              <a:rPr b="1" lang="en-US">
                <a:solidFill>
                  <a:srgbClr val="16192E"/>
                </a:solidFill>
                <a:latin typeface="Calibri"/>
                <a:ea typeface="Calibri"/>
                <a:cs typeface="Calibri"/>
                <a:sym typeface="Calibri"/>
              </a:rPr>
              <a:t>1.89</a:t>
            </a:r>
            <a:endParaRPr b="1">
              <a:solidFill>
                <a:schemeClr val="dk1"/>
              </a:solidFill>
              <a:latin typeface="Calibri"/>
              <a:ea typeface="Calibri"/>
              <a:cs typeface="Calibri"/>
              <a:sym typeface="Calibri"/>
            </a:endParaRPr>
          </a:p>
        </p:txBody>
      </p:sp>
      <p:sp>
        <p:nvSpPr>
          <p:cNvPr id="202" name="Google Shape;202;p7"/>
          <p:cNvSpPr/>
          <p:nvPr/>
        </p:nvSpPr>
        <p:spPr>
          <a:xfrm>
            <a:off x="8101584" y="1298448"/>
            <a:ext cx="3429000" cy="1481328"/>
          </a:xfrm>
          <a:prstGeom prst="roundRect">
            <a:avLst>
              <a:gd fmla="val 3704" name="adj"/>
            </a:avLst>
          </a:prstGeom>
          <a:solidFill>
            <a:srgbClr val="EEF3FF"/>
          </a:solidFill>
          <a:ln cap="flat" cmpd="sng" w="12700">
            <a:solidFill>
              <a:srgbClr val="E3E8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7"/>
          <p:cNvSpPr/>
          <p:nvPr/>
        </p:nvSpPr>
        <p:spPr>
          <a:xfrm>
            <a:off x="8375904" y="1371600"/>
            <a:ext cx="288036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3400"/>
              <a:buFont typeface="Cambria"/>
              <a:buNone/>
            </a:pPr>
            <a:r>
              <a:rPr b="1" lang="en-US" sz="3400">
                <a:solidFill>
                  <a:srgbClr val="1E2761"/>
                </a:solidFill>
                <a:latin typeface="Cambria"/>
                <a:ea typeface="Cambria"/>
                <a:cs typeface="Cambria"/>
                <a:sym typeface="Cambria"/>
              </a:rPr>
              <a:t>0.923</a:t>
            </a:r>
            <a:endParaRPr sz="3400">
              <a:solidFill>
                <a:schemeClr val="dk1"/>
              </a:solidFill>
              <a:latin typeface="Calibri"/>
              <a:ea typeface="Calibri"/>
              <a:cs typeface="Calibri"/>
              <a:sym typeface="Calibri"/>
            </a:endParaRPr>
          </a:p>
        </p:txBody>
      </p:sp>
      <p:sp>
        <p:nvSpPr>
          <p:cNvPr id="204" name="Google Shape;204;p7"/>
          <p:cNvSpPr/>
          <p:nvPr/>
        </p:nvSpPr>
        <p:spPr>
          <a:xfrm>
            <a:off x="8375904" y="1975104"/>
            <a:ext cx="288036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192E"/>
              </a:buClr>
              <a:buSzPts val="1200"/>
              <a:buFont typeface="Calibri"/>
              <a:buNone/>
            </a:pPr>
            <a:r>
              <a:rPr b="1" lang="en-US">
                <a:solidFill>
                  <a:srgbClr val="16192E"/>
                </a:solidFill>
                <a:latin typeface="Calibri"/>
                <a:ea typeface="Calibri"/>
                <a:cs typeface="Calibri"/>
                <a:sym typeface="Calibri"/>
              </a:rPr>
              <a:t>R²</a:t>
            </a:r>
            <a:r>
              <a:rPr lang="en-US">
                <a:solidFill>
                  <a:srgbClr val="16192E"/>
                </a:solidFill>
                <a:latin typeface="Calibri"/>
                <a:ea typeface="Calibri"/>
                <a:cs typeface="Calibri"/>
                <a:sym typeface="Calibri"/>
              </a:rPr>
              <a:t> of ln f against the empirical density</a:t>
            </a:r>
            <a:endParaRPr>
              <a:solidFill>
                <a:schemeClr val="dk1"/>
              </a:solidFill>
              <a:latin typeface="Calibri"/>
              <a:ea typeface="Calibri"/>
              <a:cs typeface="Calibri"/>
              <a:sym typeface="Calibri"/>
            </a:endParaRPr>
          </a:p>
        </p:txBody>
      </p:sp>
      <p:graphicFrame>
        <p:nvGraphicFramePr>
          <p:cNvPr id="205" name="Google Shape;205;p7"/>
          <p:cNvGraphicFramePr/>
          <p:nvPr/>
        </p:nvGraphicFramePr>
        <p:xfrm>
          <a:off x="640080" y="3035808"/>
          <a:ext cx="3000000" cy="3000000"/>
        </p:xfrm>
        <a:graphic>
          <a:graphicData uri="http://schemas.openxmlformats.org/drawingml/2006/table">
            <a:tbl>
              <a:tblPr>
                <a:noFill/>
                <a:tableStyleId>{B4362CE0-64CA-4DC0-96B7-1EACAC56B7C5}</a:tableStyleId>
              </a:tblPr>
              <a:tblGrid>
                <a:gridCol w="2255525"/>
                <a:gridCol w="2255525"/>
                <a:gridCol w="2255525"/>
              </a:tblGrid>
              <a:tr h="589800">
                <a:tc>
                  <a:txBody>
                    <a:bodyPr/>
                    <a:lstStyle/>
                    <a:p>
                      <a:pPr indent="0" lvl="0" marL="0" marR="0" rtl="0" algn="ctr">
                        <a:spcBef>
                          <a:spcPts val="0"/>
                        </a:spcBef>
                        <a:spcAft>
                          <a:spcPts val="0"/>
                        </a:spcAft>
                        <a:buClr>
                          <a:srgbClr val="16192E"/>
                        </a:buClr>
                        <a:buSzPts val="1300"/>
                        <a:buFont typeface="Calibri"/>
                        <a:buNone/>
                      </a:pPr>
                      <a:r>
                        <a:rPr b="1" lang="en-US" sz="2100" u="none" cap="none" strike="noStrike">
                          <a:solidFill>
                            <a:srgbClr val="16192E"/>
                          </a:solidFill>
                          <a:latin typeface="Calibri"/>
                          <a:ea typeface="Calibri"/>
                          <a:cs typeface="Calibri"/>
                          <a:sym typeface="Calibri"/>
                        </a:rPr>
                        <a:t>independent check</a:t>
                      </a:r>
                      <a:endParaRPr sz="2100" u="none" cap="none" strike="noStrike">
                        <a:latin typeface="Calibri"/>
                        <a:ea typeface="Calibri"/>
                        <a:cs typeface="Calibri"/>
                        <a:sym typeface="Calibri"/>
                      </a:endParaRPr>
                    </a:p>
                  </a:txBody>
                  <a:tcPr marT="45725" marB="45725" marR="91450" marL="91450" anchor="ctr">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EEF3FF"/>
                    </a:solidFill>
                  </a:tcPr>
                </a:tc>
                <a:tc>
                  <a:txBody>
                    <a:bodyPr/>
                    <a:lstStyle/>
                    <a:p>
                      <a:pPr indent="0" lvl="0" marL="0" marR="0" rtl="0" algn="ctr">
                        <a:spcBef>
                          <a:spcPts val="0"/>
                        </a:spcBef>
                        <a:spcAft>
                          <a:spcPts val="0"/>
                        </a:spcAft>
                        <a:buClr>
                          <a:srgbClr val="16192E"/>
                        </a:buClr>
                        <a:buSzPts val="1300"/>
                        <a:buFont typeface="Calibri"/>
                        <a:buNone/>
                      </a:pPr>
                      <a:r>
                        <a:rPr b="1" lang="en-US" sz="2100" u="none" cap="none" strike="noStrike">
                          <a:solidFill>
                            <a:srgbClr val="16192E"/>
                          </a:solidFill>
                          <a:latin typeface="Calibri"/>
                          <a:ea typeface="Calibri"/>
                          <a:cs typeface="Calibri"/>
                          <a:sym typeface="Calibri"/>
                        </a:rPr>
                        <a:t>ours</a:t>
                      </a:r>
                      <a:endParaRPr sz="2100" u="none" cap="none" strike="noStrike">
                        <a:latin typeface="Calibri"/>
                        <a:ea typeface="Calibri"/>
                        <a:cs typeface="Calibri"/>
                        <a:sym typeface="Calibri"/>
                      </a:endParaRPr>
                    </a:p>
                  </a:txBody>
                  <a:tcPr marT="45725" marB="45725" marR="91450" marL="91450" anchor="ctr">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EEF3FF"/>
                    </a:solidFill>
                  </a:tcPr>
                </a:tc>
                <a:tc>
                  <a:txBody>
                    <a:bodyPr/>
                    <a:lstStyle/>
                    <a:p>
                      <a:pPr indent="0" lvl="0" marL="0" marR="0" rtl="0" algn="ctr">
                        <a:spcBef>
                          <a:spcPts val="0"/>
                        </a:spcBef>
                        <a:spcAft>
                          <a:spcPts val="0"/>
                        </a:spcAft>
                        <a:buClr>
                          <a:srgbClr val="16192E"/>
                        </a:buClr>
                        <a:buSzPts val="1300"/>
                        <a:buFont typeface="Calibri"/>
                        <a:buNone/>
                      </a:pPr>
                      <a:r>
                        <a:rPr b="1" lang="en-US" sz="2100" u="none" cap="none" strike="noStrike">
                          <a:solidFill>
                            <a:srgbClr val="16192E"/>
                          </a:solidFill>
                          <a:latin typeface="Calibri"/>
                          <a:ea typeface="Calibri"/>
                          <a:cs typeface="Calibri"/>
                          <a:sym typeface="Calibri"/>
                        </a:rPr>
                        <a:t>published</a:t>
                      </a:r>
                      <a:endParaRPr sz="2100" u="none" cap="none" strike="noStrike">
                        <a:latin typeface="Calibri"/>
                        <a:ea typeface="Calibri"/>
                        <a:cs typeface="Calibri"/>
                        <a:sym typeface="Calibri"/>
                      </a:endParaRPr>
                    </a:p>
                  </a:txBody>
                  <a:tcPr marT="45725" marB="45725" marR="91450" marL="91450" anchor="ctr">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EEF3FF"/>
                    </a:solidFill>
                  </a:tcPr>
                </a:tc>
              </a:tr>
              <a:tr h="589800">
                <a:tc>
                  <a:txBody>
                    <a:bodyPr/>
                    <a:lstStyle/>
                    <a:p>
                      <a:pPr indent="0" lvl="0" marL="0" marR="0" rtl="0" algn="l">
                        <a:spcBef>
                          <a:spcPts val="0"/>
                        </a:spcBef>
                        <a:spcAft>
                          <a:spcPts val="0"/>
                        </a:spcAft>
                        <a:buClr>
                          <a:srgbClr val="16192E"/>
                        </a:buClr>
                        <a:buSzPts val="1300"/>
                        <a:buFont typeface="Calibri"/>
                        <a:buNone/>
                      </a:pPr>
                      <a:r>
                        <a:rPr lang="en-US" u="none" cap="none" strike="noStrike">
                          <a:solidFill>
                            <a:srgbClr val="16192E"/>
                          </a:solidFill>
                          <a:latin typeface="Calibri"/>
                          <a:ea typeface="Calibri"/>
                          <a:cs typeface="Calibri"/>
                          <a:sym typeface="Calibri"/>
                        </a:rPr>
                        <a:t>circular speed </a:t>
                      </a:r>
                      <a:r>
                        <a:rPr b="1" lang="en-US" u="none" cap="none" strike="noStrike">
                          <a:solidFill>
                            <a:srgbClr val="16192E"/>
                          </a:solidFill>
                          <a:latin typeface="Calibri"/>
                          <a:ea typeface="Calibri"/>
                          <a:cs typeface="Calibri"/>
                          <a:sym typeface="Calibri"/>
                        </a:rPr>
                        <a:t>v_c</a:t>
                      </a:r>
                      <a:endParaRPr b="1"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192E"/>
                        </a:buClr>
                        <a:buSzPts val="1300"/>
                        <a:buFont typeface="Calibri"/>
                        <a:buNone/>
                      </a:pPr>
                      <a:r>
                        <a:rPr lang="en-US" sz="1600" u="none" cap="none" strike="noStrike">
                          <a:solidFill>
                            <a:srgbClr val="16192E"/>
                          </a:solidFill>
                          <a:latin typeface="Calibri"/>
                          <a:ea typeface="Calibri"/>
                          <a:cs typeface="Calibri"/>
                          <a:sym typeface="Calibri"/>
                        </a:rPr>
                        <a:t>231.6 km/s</a:t>
                      </a:r>
                      <a:endParaRPr sz="1600" u="none" cap="none" strike="noStrike">
                        <a:latin typeface="Calibri"/>
                        <a:ea typeface="Calibri"/>
                        <a:cs typeface="Calibri"/>
                        <a:sym typeface="Calibri"/>
                      </a:endParaRPr>
                    </a:p>
                  </a:txBody>
                  <a:tcPr marT="45725" marB="45725" marR="91450" marL="91450" anchor="ctr">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192E"/>
                        </a:buClr>
                        <a:buSzPts val="1300"/>
                        <a:buFont typeface="Calibri"/>
                        <a:buNone/>
                      </a:pPr>
                      <a:r>
                        <a:rPr lang="en-US" sz="1600" u="none" cap="none" strike="noStrike">
                          <a:solidFill>
                            <a:srgbClr val="16192E"/>
                          </a:solidFill>
                          <a:latin typeface="Calibri"/>
                          <a:ea typeface="Calibri"/>
                          <a:cs typeface="Calibri"/>
                          <a:sym typeface="Calibri"/>
                        </a:rPr>
                        <a:t>229 ± 3</a:t>
                      </a:r>
                      <a:endParaRPr sz="1600" u="none" cap="none" strike="noStrike">
                        <a:latin typeface="Calibri"/>
                        <a:ea typeface="Calibri"/>
                        <a:cs typeface="Calibri"/>
                        <a:sym typeface="Calibri"/>
                      </a:endParaRPr>
                    </a:p>
                  </a:txBody>
                  <a:tcPr marT="45725" marB="45725" marR="91450" marL="91450" anchor="ctr">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r>
              <a:tr h="589800">
                <a:tc>
                  <a:txBody>
                    <a:bodyPr/>
                    <a:lstStyle/>
                    <a:p>
                      <a:pPr indent="0" lvl="0" marL="0" marR="0" rtl="0" algn="l">
                        <a:spcBef>
                          <a:spcPts val="0"/>
                        </a:spcBef>
                        <a:spcAft>
                          <a:spcPts val="0"/>
                        </a:spcAft>
                        <a:buClr>
                          <a:srgbClr val="16192E"/>
                        </a:buClr>
                        <a:buSzPts val="1300"/>
                        <a:buFont typeface="Calibri"/>
                        <a:buNone/>
                      </a:pPr>
                      <a:r>
                        <a:rPr lang="en-US" u="none" cap="none" strike="noStrike">
                          <a:solidFill>
                            <a:srgbClr val="16192E"/>
                          </a:solidFill>
                          <a:latin typeface="Calibri"/>
                          <a:ea typeface="Calibri"/>
                          <a:cs typeface="Calibri"/>
                          <a:sym typeface="Calibri"/>
                        </a:rPr>
                        <a:t>radial gradient </a:t>
                      </a:r>
                      <a:r>
                        <a:rPr b="1" lang="en-US" u="none" cap="none" strike="noStrike">
                          <a:solidFill>
                            <a:srgbClr val="16192E"/>
                          </a:solidFill>
                          <a:latin typeface="Calibri"/>
                          <a:ea typeface="Calibri"/>
                          <a:cs typeface="Calibri"/>
                          <a:sym typeface="Calibri"/>
                        </a:rPr>
                        <a:t>dv_c/dR</a:t>
                      </a:r>
                      <a:endParaRPr b="1"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192E"/>
                        </a:buClr>
                        <a:buSzPts val="1300"/>
                        <a:buFont typeface="Calibri"/>
                        <a:buNone/>
                      </a:pPr>
                      <a:r>
                        <a:rPr lang="en-US" sz="1600" u="none" cap="none" strike="noStrike">
                          <a:solidFill>
                            <a:srgbClr val="16192E"/>
                          </a:solidFill>
                          <a:latin typeface="Calibri"/>
                          <a:ea typeface="Calibri"/>
                          <a:cs typeface="Calibri"/>
                          <a:sym typeface="Calibri"/>
                        </a:rPr>
                        <a:t>−1.1 km/s/kpc</a:t>
                      </a:r>
                      <a:endParaRPr sz="1600" u="none" cap="none" strike="noStrike">
                        <a:latin typeface="Calibri"/>
                        <a:ea typeface="Calibri"/>
                        <a:cs typeface="Calibri"/>
                        <a:sym typeface="Calibri"/>
                      </a:endParaRPr>
                    </a:p>
                  </a:txBody>
                  <a:tcPr marT="45725" marB="45725" marR="91450" marL="91450" anchor="ctr">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192E"/>
                        </a:buClr>
                        <a:buSzPts val="1300"/>
                        <a:buFont typeface="Calibri"/>
                        <a:buNone/>
                      </a:pPr>
                      <a:r>
                        <a:rPr lang="en-US" sz="1600" u="none" cap="none" strike="noStrike">
                          <a:solidFill>
                            <a:srgbClr val="16192E"/>
                          </a:solidFill>
                          <a:latin typeface="Calibri"/>
                          <a:ea typeface="Calibri"/>
                          <a:cs typeface="Calibri"/>
                          <a:sym typeface="Calibri"/>
                        </a:rPr>
                        <a:t>−1.7 ± 0.1</a:t>
                      </a:r>
                      <a:endParaRPr sz="1600" u="none" cap="none" strike="noStrike">
                        <a:latin typeface="Calibri"/>
                        <a:ea typeface="Calibri"/>
                        <a:cs typeface="Calibri"/>
                        <a:sym typeface="Calibri"/>
                      </a:endParaRPr>
                    </a:p>
                  </a:txBody>
                  <a:tcPr marT="45725" marB="45725" marR="91450" marL="91450" anchor="ctr">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r>
              <a:tr h="589800">
                <a:tc>
                  <a:txBody>
                    <a:bodyPr/>
                    <a:lstStyle/>
                    <a:p>
                      <a:pPr indent="0" lvl="0" marL="0" marR="0" rtl="0" algn="l">
                        <a:spcBef>
                          <a:spcPts val="0"/>
                        </a:spcBef>
                        <a:spcAft>
                          <a:spcPts val="0"/>
                        </a:spcAft>
                        <a:buClr>
                          <a:srgbClr val="16192E"/>
                        </a:buClr>
                        <a:buSzPts val="1300"/>
                        <a:buFont typeface="Calibri"/>
                        <a:buNone/>
                      </a:pPr>
                      <a:r>
                        <a:rPr lang="en-US" u="none" cap="none" strike="noStrike">
                          <a:solidFill>
                            <a:srgbClr val="16192E"/>
                          </a:solidFill>
                          <a:latin typeface="Calibri"/>
                          <a:ea typeface="Calibri"/>
                          <a:cs typeface="Calibri"/>
                          <a:sym typeface="Calibri"/>
                        </a:rPr>
                        <a:t>disc surface density </a:t>
                      </a:r>
                      <a:r>
                        <a:rPr b="1" lang="en-US" u="none" cap="none" strike="noStrike">
                          <a:solidFill>
                            <a:srgbClr val="16192E"/>
                          </a:solidFill>
                          <a:latin typeface="Calibri"/>
                          <a:ea typeface="Calibri"/>
                          <a:cs typeface="Calibri"/>
                          <a:sym typeface="Calibri"/>
                        </a:rPr>
                        <a:t>Σ(&lt;0.5)</a:t>
                      </a:r>
                      <a:endParaRPr b="1" u="none" cap="none" strike="noStrike">
                        <a:latin typeface="Calibri"/>
                        <a:ea typeface="Calibri"/>
                        <a:cs typeface="Calibri"/>
                        <a:sym typeface="Calibri"/>
                      </a:endParaRPr>
                    </a:p>
                  </a:txBody>
                  <a:tcPr marT="45725" marB="45725" marR="91450" marL="91450">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192E"/>
                        </a:buClr>
                        <a:buSzPts val="1300"/>
                        <a:buFont typeface="Calibri"/>
                        <a:buNone/>
                      </a:pPr>
                      <a:r>
                        <a:rPr lang="en-US" sz="1600" u="none" cap="none" strike="noStrike">
                          <a:solidFill>
                            <a:srgbClr val="16192E"/>
                          </a:solidFill>
                          <a:latin typeface="Calibri"/>
                          <a:ea typeface="Calibri"/>
                          <a:cs typeface="Calibri"/>
                          <a:sym typeface="Calibri"/>
                        </a:rPr>
                        <a:t>44.0 M⊙/pc²</a:t>
                      </a:r>
                      <a:endParaRPr sz="1600" u="none" cap="none" strike="noStrike">
                        <a:latin typeface="Calibri"/>
                        <a:ea typeface="Calibri"/>
                        <a:cs typeface="Calibri"/>
                        <a:sym typeface="Calibri"/>
                      </a:endParaRPr>
                    </a:p>
                  </a:txBody>
                  <a:tcPr marT="45725" marB="45725" marR="91450" marL="91450" anchor="ctr">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192E"/>
                        </a:buClr>
                        <a:buSzPts val="1300"/>
                        <a:buFont typeface="Calibri"/>
                        <a:buNone/>
                      </a:pPr>
                      <a:r>
                        <a:rPr lang="en-US" sz="1600">
                          <a:solidFill>
                            <a:srgbClr val="16192E"/>
                          </a:solidFill>
                          <a:latin typeface="Calibri"/>
                          <a:ea typeface="Calibri"/>
                          <a:cs typeface="Calibri"/>
                          <a:sym typeface="Calibri"/>
                        </a:rPr>
                        <a:t>42</a:t>
                      </a:r>
                      <a:r>
                        <a:rPr lang="en-US" sz="1600" u="none" cap="none" strike="noStrike">
                          <a:solidFill>
                            <a:srgbClr val="16192E"/>
                          </a:solidFill>
                          <a:latin typeface="Calibri"/>
                          <a:ea typeface="Calibri"/>
                          <a:cs typeface="Calibri"/>
                          <a:sym typeface="Calibri"/>
                        </a:rPr>
                        <a:t> </a:t>
                      </a:r>
                      <a:r>
                        <a:rPr lang="en-US" sz="1600">
                          <a:solidFill>
                            <a:srgbClr val="16192E"/>
                          </a:solidFill>
                          <a:latin typeface="Calibri"/>
                          <a:ea typeface="Calibri"/>
                          <a:cs typeface="Calibri"/>
                          <a:sym typeface="Calibri"/>
                        </a:rPr>
                        <a:t>± 6</a:t>
                      </a:r>
                      <a:endParaRPr sz="1600" u="none" cap="none" strike="noStrike">
                        <a:latin typeface="Calibri"/>
                        <a:ea typeface="Calibri"/>
                        <a:cs typeface="Calibri"/>
                        <a:sym typeface="Calibri"/>
                      </a:endParaRPr>
                    </a:p>
                  </a:txBody>
                  <a:tcPr marT="45725" marB="45725" marR="91450" marL="91450" anchor="ctr">
                    <a:lnL cap="flat" cmpd="sng" w="12700">
                      <a:solidFill>
                        <a:srgbClr val="E3E8F4"/>
                      </a:solidFill>
                      <a:prstDash val="solid"/>
                      <a:round/>
                      <a:headEnd len="sm" w="sm" type="none"/>
                      <a:tailEnd len="sm" w="sm" type="none"/>
                    </a:lnL>
                    <a:lnR cap="flat" cmpd="sng" w="12700">
                      <a:solidFill>
                        <a:srgbClr val="E3E8F4"/>
                      </a:solidFill>
                      <a:prstDash val="solid"/>
                      <a:round/>
                      <a:headEnd len="sm" w="sm" type="none"/>
                      <a:tailEnd len="sm" w="sm" type="none"/>
                    </a:lnR>
                    <a:lnT cap="flat" cmpd="sng" w="12700">
                      <a:solidFill>
                        <a:srgbClr val="E3E8F4"/>
                      </a:solidFill>
                      <a:prstDash val="solid"/>
                      <a:round/>
                      <a:headEnd len="sm" w="sm" type="none"/>
                      <a:tailEnd len="sm" w="sm" type="none"/>
                    </a:lnT>
                    <a:lnB cap="flat" cmpd="sng" w="12700">
                      <a:solidFill>
                        <a:srgbClr val="E3E8F4"/>
                      </a:solidFill>
                      <a:prstDash val="solid"/>
                      <a:round/>
                      <a:headEnd len="sm" w="sm" type="none"/>
                      <a:tailEnd len="sm" w="sm" type="none"/>
                    </a:lnB>
                    <a:solidFill>
                      <a:srgbClr val="FFFFFF"/>
                    </a:solidFill>
                  </a:tcPr>
                </a:tc>
              </a:tr>
            </a:tbl>
          </a:graphicData>
        </a:graphic>
      </p:graphicFrame>
      <p:sp>
        <p:nvSpPr>
          <p:cNvPr id="206" name="Google Shape;206;p7"/>
          <p:cNvSpPr/>
          <p:nvPr/>
        </p:nvSpPr>
        <p:spPr>
          <a:xfrm>
            <a:off x="7680950" y="3035801"/>
            <a:ext cx="3840600" cy="2255400"/>
          </a:xfrm>
          <a:prstGeom prst="roundRect">
            <a:avLst>
              <a:gd fmla="val 2206" name="adj"/>
            </a:avLst>
          </a:prstGeom>
          <a:solidFill>
            <a:srgbClr val="F4F6FB"/>
          </a:solidFill>
          <a:ln cap="flat" cmpd="sng" w="12700">
            <a:solidFill>
              <a:srgbClr val="E3E8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7"/>
          <p:cNvSpPr/>
          <p:nvPr/>
        </p:nvSpPr>
        <p:spPr>
          <a:xfrm>
            <a:off x="7955280" y="3154680"/>
            <a:ext cx="3291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500"/>
              <a:buFont typeface="Calibri"/>
              <a:buNone/>
            </a:pPr>
            <a:r>
              <a:rPr b="1" lang="en-US" sz="1700">
                <a:solidFill>
                  <a:srgbClr val="1E2761"/>
                </a:solidFill>
                <a:latin typeface="Calibri"/>
                <a:ea typeface="Calibri"/>
                <a:cs typeface="Calibri"/>
                <a:sym typeface="Calibri"/>
              </a:rPr>
              <a:t>The zero-residual model loses</a:t>
            </a:r>
            <a:endParaRPr sz="1700">
              <a:solidFill>
                <a:schemeClr val="dk1"/>
              </a:solidFill>
              <a:latin typeface="Calibri"/>
              <a:ea typeface="Calibri"/>
              <a:cs typeface="Calibri"/>
              <a:sym typeface="Calibri"/>
            </a:endParaRPr>
          </a:p>
        </p:txBody>
      </p:sp>
      <p:sp>
        <p:nvSpPr>
          <p:cNvPr id="208" name="Google Shape;208;p7"/>
          <p:cNvSpPr/>
          <p:nvPr/>
        </p:nvSpPr>
        <p:spPr>
          <a:xfrm>
            <a:off x="7955280" y="3520440"/>
            <a:ext cx="3291840" cy="1874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192E"/>
              </a:buClr>
              <a:buSzPts val="1150"/>
              <a:buFont typeface="Calibri"/>
              <a:buNone/>
            </a:pPr>
            <a:r>
              <a:rPr lang="en-US" sz="1350">
                <a:solidFill>
                  <a:srgbClr val="16192E"/>
                </a:solidFill>
                <a:latin typeface="Calibri"/>
                <a:ea typeface="Calibri"/>
                <a:cs typeface="Calibri"/>
                <a:sym typeface="Calibri"/>
              </a:rPr>
              <a:t>At complexity 2, g = constant gives residual 0.</a:t>
            </a:r>
            <a:endParaRPr sz="13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sz="1350">
              <a:solidFill>
                <a:schemeClr val="dk1"/>
              </a:solidFill>
              <a:latin typeface="Calibri"/>
              <a:ea typeface="Calibri"/>
              <a:cs typeface="Calibri"/>
              <a:sym typeface="Calibri"/>
            </a:endParaRPr>
          </a:p>
          <a:p>
            <a:pPr indent="0" lvl="0" marL="0" marR="0" rtl="0" algn="l">
              <a:spcBef>
                <a:spcPts val="0"/>
              </a:spcBef>
              <a:spcAft>
                <a:spcPts val="0"/>
              </a:spcAft>
              <a:buClr>
                <a:srgbClr val="16192E"/>
              </a:buClr>
              <a:buSzPts val="1150"/>
              <a:buFont typeface="Calibri"/>
              <a:buNone/>
            </a:pPr>
            <a:r>
              <a:rPr lang="en-US" sz="1350">
                <a:solidFill>
                  <a:srgbClr val="16192E"/>
                </a:solidFill>
                <a:latin typeface="Calibri"/>
                <a:ea typeface="Calibri"/>
                <a:cs typeface="Calibri"/>
                <a:sym typeface="Calibri"/>
              </a:rPr>
              <a:t>But it has </a:t>
            </a:r>
            <a:r>
              <a:rPr b="1" lang="en-US" sz="1350">
                <a:solidFill>
                  <a:srgbClr val="16192E"/>
                </a:solidFill>
                <a:latin typeface="Calibri"/>
                <a:ea typeface="Calibri"/>
                <a:cs typeface="Calibri"/>
                <a:sym typeface="Calibri"/>
              </a:rPr>
              <a:t>R² ≈ 0 </a:t>
            </a:r>
            <a:r>
              <a:rPr lang="en-US" sz="1350">
                <a:solidFill>
                  <a:srgbClr val="16192E"/>
                </a:solidFill>
                <a:latin typeface="Calibri"/>
                <a:ea typeface="Calibri"/>
                <a:cs typeface="Calibri"/>
                <a:sym typeface="Calibri"/>
              </a:rPr>
              <a:t>and σ</a:t>
            </a:r>
            <a:r>
              <a:rPr b="1" lang="en-US" sz="1350">
                <a:solidFill>
                  <a:srgbClr val="16192E"/>
                </a:solidFill>
                <a:latin typeface="Calibri"/>
                <a:ea typeface="Calibri"/>
                <a:cs typeface="Calibri"/>
                <a:sym typeface="Calibri"/>
              </a:rPr>
              <a:t>_R/σ_z = 0.91</a:t>
            </a:r>
            <a:r>
              <a:rPr lang="en-US" sz="1350">
                <a:solidFill>
                  <a:srgbClr val="16192E"/>
                </a:solidFill>
                <a:latin typeface="Calibri"/>
                <a:ea typeface="Calibri"/>
                <a:cs typeface="Calibri"/>
                <a:sym typeface="Calibri"/>
              </a:rPr>
              <a:t>.</a:t>
            </a:r>
            <a:endParaRPr sz="13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sz="1350">
              <a:solidFill>
                <a:schemeClr val="dk1"/>
              </a:solidFill>
              <a:latin typeface="Calibri"/>
              <a:ea typeface="Calibri"/>
              <a:cs typeface="Calibri"/>
              <a:sym typeface="Calibri"/>
            </a:endParaRPr>
          </a:p>
          <a:p>
            <a:pPr indent="0" lvl="0" marL="0" marR="0" rtl="0" algn="l">
              <a:spcBef>
                <a:spcPts val="0"/>
              </a:spcBef>
              <a:spcAft>
                <a:spcPts val="0"/>
              </a:spcAft>
              <a:buClr>
                <a:srgbClr val="16192E"/>
              </a:buClr>
              <a:buSzPts val="1150"/>
              <a:buFont typeface="Calibri"/>
              <a:buNone/>
            </a:pPr>
            <a:r>
              <a:rPr b="1" lang="en-US" sz="1350">
                <a:solidFill>
                  <a:srgbClr val="16192E"/>
                </a:solidFill>
                <a:latin typeface="Calibri"/>
                <a:ea typeface="Calibri"/>
                <a:cs typeface="Calibri"/>
                <a:sym typeface="Calibri"/>
              </a:rPr>
              <a:t>Our selected expression sacrifices a perfect residual to recover the observed distribution.</a:t>
            </a:r>
            <a:endParaRPr b="1" sz="1350">
              <a:solidFill>
                <a:schemeClr val="dk1"/>
              </a:solidFill>
              <a:latin typeface="Calibri"/>
              <a:ea typeface="Calibri"/>
              <a:cs typeface="Calibri"/>
              <a:sym typeface="Calibri"/>
            </a:endParaRPr>
          </a:p>
        </p:txBody>
      </p:sp>
      <p:sp>
        <p:nvSpPr>
          <p:cNvPr id="209" name="Google Shape;209;p7"/>
          <p:cNvSpPr/>
          <p:nvPr/>
        </p:nvSpPr>
        <p:spPr>
          <a:xfrm>
            <a:off x="640118" y="5443076"/>
            <a:ext cx="6766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50"/>
              <a:buFont typeface="Calibri"/>
              <a:buNone/>
            </a:pPr>
            <a:r>
              <a:rPr i="1" lang="en-US" sz="1450">
                <a:solidFill>
                  <a:srgbClr val="6B7280"/>
                </a:solidFill>
                <a:latin typeface="Calibri"/>
                <a:ea typeface="Calibri"/>
                <a:cs typeface="Calibri"/>
                <a:sym typeface="Calibri"/>
              </a:rPr>
              <a:t>Held-out split spread is 0.5%; the main remaining mismatch is the low midplane density.</a:t>
            </a:r>
            <a:endParaRPr sz="1450">
              <a:solidFill>
                <a:schemeClr val="dk1"/>
              </a:solidFill>
              <a:latin typeface="Calibri"/>
              <a:ea typeface="Calibri"/>
              <a:cs typeface="Calibri"/>
              <a:sym typeface="Calibri"/>
            </a:endParaRPr>
          </a:p>
        </p:txBody>
      </p:sp>
      <p:sp>
        <p:nvSpPr>
          <p:cNvPr id="210" name="Google Shape;210;p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15" name="Shape 215"/>
        <p:cNvGrpSpPr/>
        <p:nvPr/>
      </p:nvGrpSpPr>
      <p:grpSpPr>
        <a:xfrm>
          <a:off x="0" y="0"/>
          <a:ext cx="0" cy="0"/>
          <a:chOff x="0" y="0"/>
          <a:chExt cx="0" cy="0"/>
        </a:xfrm>
      </p:grpSpPr>
      <p:sp>
        <p:nvSpPr>
          <p:cNvPr id="216" name="Google Shape;216;p8"/>
          <p:cNvSpPr/>
          <p:nvPr/>
        </p:nvSpPr>
        <p:spPr>
          <a:xfrm>
            <a:off x="822960" y="640080"/>
            <a:ext cx="105156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mbria"/>
              <a:buNone/>
            </a:pPr>
            <a:r>
              <a:rPr b="1" lang="en-US" sz="3600">
                <a:solidFill>
                  <a:srgbClr val="FFFFFF"/>
                </a:solidFill>
                <a:latin typeface="Cambria"/>
                <a:ea typeface="Cambria"/>
                <a:cs typeface="Cambria"/>
                <a:sym typeface="Cambria"/>
              </a:rPr>
              <a:t>Conclusion</a:t>
            </a:r>
            <a:endParaRPr sz="3600">
              <a:solidFill>
                <a:schemeClr val="dk1"/>
              </a:solidFill>
              <a:latin typeface="Calibri"/>
              <a:ea typeface="Calibri"/>
              <a:cs typeface="Calibri"/>
              <a:sym typeface="Calibri"/>
            </a:endParaRPr>
          </a:p>
        </p:txBody>
      </p:sp>
      <p:sp>
        <p:nvSpPr>
          <p:cNvPr id="217" name="Google Shape;217;p8"/>
          <p:cNvSpPr/>
          <p:nvPr/>
        </p:nvSpPr>
        <p:spPr>
          <a:xfrm>
            <a:off x="822960" y="1568918"/>
            <a:ext cx="457200" cy="457200"/>
          </a:xfrm>
          <a:prstGeom prst="ellipse">
            <a:avLst/>
          </a:prstGeom>
          <a:solidFill>
            <a:srgbClr val="CADC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8"/>
          <p:cNvSpPr/>
          <p:nvPr/>
        </p:nvSpPr>
        <p:spPr>
          <a:xfrm>
            <a:off x="822960" y="156891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800"/>
              <a:buFont typeface="Calibri"/>
              <a:buNone/>
            </a:pPr>
            <a:r>
              <a:rPr b="1" lang="en-US" sz="1800">
                <a:solidFill>
                  <a:srgbClr val="1E276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219" name="Google Shape;219;p8"/>
          <p:cNvSpPr/>
          <p:nvPr/>
        </p:nvSpPr>
        <p:spPr>
          <a:xfrm>
            <a:off x="1508760" y="1523198"/>
            <a:ext cx="9784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Test the empty solution first</a:t>
            </a:r>
            <a:endParaRPr sz="2000">
              <a:solidFill>
                <a:schemeClr val="dk1"/>
              </a:solidFill>
              <a:latin typeface="Calibri"/>
              <a:ea typeface="Calibri"/>
              <a:cs typeface="Calibri"/>
              <a:sym typeface="Calibri"/>
            </a:endParaRPr>
          </a:p>
        </p:txBody>
      </p:sp>
      <p:sp>
        <p:nvSpPr>
          <p:cNvPr id="220" name="Google Shape;220;p8"/>
          <p:cNvSpPr/>
          <p:nvPr/>
        </p:nvSpPr>
        <p:spPr>
          <a:xfrm>
            <a:off x="1508760" y="1848051"/>
            <a:ext cx="97842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400"/>
              <a:buFont typeface="Calibri"/>
              <a:buNone/>
            </a:pPr>
            <a:r>
              <a:rPr lang="en-US" sz="1900">
                <a:solidFill>
                  <a:srgbClr val="CADCFC"/>
                </a:solidFill>
                <a:latin typeface="Calibri"/>
                <a:ea typeface="Calibri"/>
                <a:cs typeface="Calibri"/>
                <a:sym typeface="Calibri"/>
              </a:rPr>
              <a:t>Before optimizing, ask what the cheapest degenerate model scores. A perfect empty baseline means the loss is wrong.</a:t>
            </a:r>
            <a:endParaRPr sz="1900">
              <a:solidFill>
                <a:schemeClr val="dk1"/>
              </a:solidFill>
              <a:latin typeface="Calibri"/>
              <a:ea typeface="Calibri"/>
              <a:cs typeface="Calibri"/>
              <a:sym typeface="Calibri"/>
            </a:endParaRPr>
          </a:p>
        </p:txBody>
      </p:sp>
      <p:sp>
        <p:nvSpPr>
          <p:cNvPr id="221" name="Google Shape;221;p8"/>
          <p:cNvSpPr/>
          <p:nvPr/>
        </p:nvSpPr>
        <p:spPr>
          <a:xfrm>
            <a:off x="822960" y="2940518"/>
            <a:ext cx="457200" cy="457200"/>
          </a:xfrm>
          <a:prstGeom prst="ellipse">
            <a:avLst/>
          </a:prstGeom>
          <a:solidFill>
            <a:srgbClr val="CADC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8"/>
          <p:cNvSpPr/>
          <p:nvPr/>
        </p:nvSpPr>
        <p:spPr>
          <a:xfrm>
            <a:off x="822960" y="294051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800"/>
              <a:buFont typeface="Calibri"/>
              <a:buNone/>
            </a:pPr>
            <a:r>
              <a:rPr b="1" lang="en-US" sz="1800">
                <a:solidFill>
                  <a:srgbClr val="1E2761"/>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223" name="Google Shape;223;p8"/>
          <p:cNvSpPr/>
          <p:nvPr/>
        </p:nvSpPr>
        <p:spPr>
          <a:xfrm>
            <a:off x="1508760" y="2894798"/>
            <a:ext cx="9784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Build physics into the representation</a:t>
            </a:r>
            <a:endParaRPr sz="2000">
              <a:solidFill>
                <a:schemeClr val="dk1"/>
              </a:solidFill>
              <a:latin typeface="Calibri"/>
              <a:ea typeface="Calibri"/>
              <a:cs typeface="Calibri"/>
              <a:sym typeface="Calibri"/>
            </a:endParaRPr>
          </a:p>
        </p:txBody>
      </p:sp>
      <p:sp>
        <p:nvSpPr>
          <p:cNvPr id="224" name="Google Shape;224;p8"/>
          <p:cNvSpPr/>
          <p:nvPr/>
        </p:nvSpPr>
        <p:spPr>
          <a:xfrm>
            <a:off x="1508760" y="3219651"/>
            <a:ext cx="97842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400"/>
              <a:buFont typeface="Calibri"/>
              <a:buNone/>
            </a:pPr>
            <a:r>
              <a:rPr lang="en-US" sz="1900">
                <a:solidFill>
                  <a:srgbClr val="CADCFC"/>
                </a:solidFill>
                <a:latin typeface="Calibri"/>
                <a:ea typeface="Calibri"/>
                <a:cs typeface="Calibri"/>
                <a:sym typeface="Calibri"/>
              </a:rPr>
              <a:t>Searching ln f guarantees positivity; fitting one shared Φ guarantees curl-freeness. Structural constraints cannot be violated.</a:t>
            </a:r>
            <a:endParaRPr sz="1900">
              <a:solidFill>
                <a:schemeClr val="dk1"/>
              </a:solidFill>
              <a:latin typeface="Calibri"/>
              <a:ea typeface="Calibri"/>
              <a:cs typeface="Calibri"/>
              <a:sym typeface="Calibri"/>
            </a:endParaRPr>
          </a:p>
        </p:txBody>
      </p:sp>
      <p:sp>
        <p:nvSpPr>
          <p:cNvPr id="225" name="Google Shape;225;p8"/>
          <p:cNvSpPr/>
          <p:nvPr/>
        </p:nvSpPr>
        <p:spPr>
          <a:xfrm>
            <a:off x="822960" y="4312118"/>
            <a:ext cx="457200" cy="457200"/>
          </a:xfrm>
          <a:prstGeom prst="ellipse">
            <a:avLst/>
          </a:prstGeom>
          <a:solidFill>
            <a:srgbClr val="CADC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8"/>
          <p:cNvSpPr/>
          <p:nvPr/>
        </p:nvSpPr>
        <p:spPr>
          <a:xfrm>
            <a:off x="822960" y="431211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800"/>
              <a:buFont typeface="Calibri"/>
              <a:buNone/>
            </a:pPr>
            <a:r>
              <a:rPr b="1" lang="en-US" sz="1800">
                <a:solidFill>
                  <a:srgbClr val="1E276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227" name="Google Shape;227;p8"/>
          <p:cNvSpPr/>
          <p:nvPr/>
        </p:nvSpPr>
        <p:spPr>
          <a:xfrm>
            <a:off x="1508760" y="4266398"/>
            <a:ext cx="9784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Treat this as a local result, not the final Galaxy</a:t>
            </a:r>
            <a:endParaRPr sz="2000">
              <a:solidFill>
                <a:schemeClr val="dk1"/>
              </a:solidFill>
              <a:latin typeface="Calibri"/>
              <a:ea typeface="Calibri"/>
              <a:cs typeface="Calibri"/>
              <a:sym typeface="Calibri"/>
            </a:endParaRPr>
          </a:p>
        </p:txBody>
      </p:sp>
      <p:sp>
        <p:nvSpPr>
          <p:cNvPr id="228" name="Google Shape;228;p8"/>
          <p:cNvSpPr/>
          <p:nvPr/>
        </p:nvSpPr>
        <p:spPr>
          <a:xfrm>
            <a:off x="1508760" y="4615314"/>
            <a:ext cx="97842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400"/>
              <a:buFont typeface="Calibri"/>
              <a:buNone/>
            </a:pPr>
            <a:r>
              <a:t/>
            </a:r>
            <a:endParaRPr sz="1900">
              <a:solidFill>
                <a:schemeClr val="dk1"/>
              </a:solidFill>
              <a:latin typeface="Calibri"/>
              <a:ea typeface="Calibri"/>
              <a:cs typeface="Calibri"/>
              <a:sym typeface="Calibri"/>
            </a:endParaRPr>
          </a:p>
        </p:txBody>
      </p:sp>
      <p:sp>
        <p:nvSpPr>
          <p:cNvPr id="229" name="Google Shape;229;p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solidFill>
                  <a:srgbClr val="D9D9D9"/>
                </a:solidFill>
              </a:rPr>
              <a:t>‹#›</a:t>
            </a:fld>
            <a:endParaRPr>
              <a:solidFill>
                <a:srgbClr val="D9D9D9"/>
              </a:solidFill>
            </a:endParaRPr>
          </a:p>
        </p:txBody>
      </p:sp>
      <p:sp>
        <p:nvSpPr>
          <p:cNvPr id="230" name="Google Shape;230;p8"/>
          <p:cNvSpPr/>
          <p:nvPr/>
        </p:nvSpPr>
        <p:spPr>
          <a:xfrm>
            <a:off x="1137000" y="5705357"/>
            <a:ext cx="10527600" cy="502800"/>
          </a:xfrm>
          <a:prstGeom prst="roundRect">
            <a:avLst>
              <a:gd fmla="val 3429" name="adj"/>
            </a:avLst>
          </a:prstGeom>
          <a:solidFill>
            <a:srgbClr val="F4F6FB"/>
          </a:solidFill>
          <a:ln cap="flat" cmpd="sng" w="12700">
            <a:solidFill>
              <a:srgbClr val="4753D8"/>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SzPts val="1600"/>
              <a:buNone/>
            </a:pPr>
            <a:r>
              <a:rPr b="1" lang="en-US" sz="1900">
                <a:solidFill>
                  <a:srgbClr val="4753D8"/>
                </a:solidFill>
                <a:latin typeface="Cambria"/>
                <a:ea typeface="Cambria"/>
                <a:cs typeface="Cambria"/>
                <a:sym typeface="Cambria"/>
              </a:rPr>
              <a:t>Bottom line: compact local equations, an honest residual, and clear next experiments.</a:t>
            </a:r>
            <a:endParaRPr b="1" sz="1900">
              <a:solidFill>
                <a:srgbClr val="4753D8"/>
              </a:solidFill>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2026-08-07T15:50:53Z</dcterms:created>
  <dc:creator>Walnut Exporter</dc:creator>
</cp:coreProperties>
</file>